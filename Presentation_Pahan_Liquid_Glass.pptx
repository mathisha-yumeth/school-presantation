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udio1.wav" ContentType="audio/x-wav"/>
  <Override PartName="/ppt/media/audio2.wav" ContentType="audio/x-wav"/>
  <Override PartName="/ppt/media/audio3.wav" ContentType="audio/x-wav"/>
  <Override PartName="/ppt/media/audio4.wav" ContentType="audio/x-wav"/>
  <Override PartName="/ppt/media/audio5.wav" ContentType="audio/x-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713" r:id="rId2"/>
    <p:sldMasterId id="2147483731" r:id="rId3"/>
    <p:sldMasterId id="2147483766" r:id="rId4"/>
    <p:sldMasterId id="2147483784" r:id="rId5"/>
    <p:sldMasterId id="2147483837" r:id="rId6"/>
    <p:sldMasterId id="2147483855" r:id="rId7"/>
    <p:sldMasterId id="2147483873" r:id="rId8"/>
    <p:sldMasterId id="2147483891" r:id="rId9"/>
    <p:sldMasterId id="2147483926" r:id="rId10"/>
    <p:sldMasterId id="2147483973" r:id="rId11"/>
    <p:sldMasterId id="2147483991" r:id="rId12"/>
    <p:sldMasterId id="2147484026" r:id="rId13"/>
    <p:sldMasterId id="2147484044" r:id="rId14"/>
    <p:sldMasterId id="2147484080" r:id="rId15"/>
  </p:sldMasterIdLst>
  <p:notesMasterIdLst>
    <p:notesMasterId r:id="rId50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9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3764" autoAdjust="0"/>
  </p:normalViewPr>
  <p:slideViewPr>
    <p:cSldViewPr snapToGrid="0">
      <p:cViewPr>
        <p:scale>
          <a:sx n="50" d="100"/>
          <a:sy n="50" d="100"/>
        </p:scale>
        <p:origin x="878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E8B43-0656-485F-BD43-5D7EB2E0E9D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0331E-7D53-435A-88CA-1F312658F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0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60331E-7D53-435A-88CA-1F312658FA0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975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9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0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6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2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1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4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4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5369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54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36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35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12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19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8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4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151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4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2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44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68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95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597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43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34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24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681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980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2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3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844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434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8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859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226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672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484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549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749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71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89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88209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482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932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036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604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51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27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8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14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20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55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2628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501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990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41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693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47265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075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405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200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57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485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96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806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869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50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9642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4519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780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336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758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9905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2195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6481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470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00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585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736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58231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258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245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7845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4973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403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9009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6673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0154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181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4857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27917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458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0579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8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8209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3428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7551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836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61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06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1269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8772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830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0480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5571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1140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403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148604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7903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248747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2099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019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878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1830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1777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6348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960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5606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0627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9587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2074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6308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8938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113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85573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255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683858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5286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43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715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5458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388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16131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65883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42474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2513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093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12315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313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0875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83389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03647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09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23118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97337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9102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43823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621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5524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3652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3384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1967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613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3418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695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8350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6160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83859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182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944269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6819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8777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3562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35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239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7853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6913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8874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66553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081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93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4377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07743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2534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8839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1437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91236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282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4670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6339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2097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1331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0056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8213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6138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0786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922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3893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7791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16549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848471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8276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314727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5483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693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2435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185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69776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80104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4384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0846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71253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1738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81648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144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5416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40626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1674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690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260619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2565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71190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07930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675965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0338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1493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25679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327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1631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0199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446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0189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18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953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884091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7407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80043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5911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0340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1088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95763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9726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05841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11010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39127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39503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94633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321175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1090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0559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24336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17947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3272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090033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501826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909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8500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theme" Target="../theme/theme4.xml"/><Relationship Id="rId19" Type="http://schemas.openxmlformats.org/officeDocument/2006/relationships/image" Target="../media/image5.png"/><Relationship Id="rId20" Type="http://schemas.openxmlformats.org/officeDocument/2006/relationships/image" Target="../media/image6.png"/><Relationship Id="rId21" Type="http://schemas.openxmlformats.org/officeDocument/2006/relationships/image" Target="../media/image7.png"/><Relationship Id="rId22" Type="http://schemas.openxmlformats.org/officeDocument/2006/relationships/image" Target="../media/image8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0.xml"/><Relationship Id="rId18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17.xml"/><Relationship Id="rId18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4.xml"/><Relationship Id="rId18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47.xml"/><Relationship Id="rId14" Type="http://schemas.openxmlformats.org/officeDocument/2006/relationships/slideLayout" Target="../slideLayouts/slideLayout148.xml"/><Relationship Id="rId15" Type="http://schemas.openxmlformats.org/officeDocument/2006/relationships/slideLayout" Target="../slideLayouts/slideLayout149.xml"/><Relationship Id="rId16" Type="http://schemas.openxmlformats.org/officeDocument/2006/relationships/slideLayout" Target="../slideLayouts/slideLayout150.xml"/><Relationship Id="rId17" Type="http://schemas.openxmlformats.org/officeDocument/2006/relationships/slideLayout" Target="../slideLayouts/slideLayout151.xml"/><Relationship Id="rId18" Type="http://schemas.openxmlformats.org/officeDocument/2006/relationships/theme" Target="../theme/theme9.xml"/><Relationship Id="rId19" Type="http://schemas.openxmlformats.org/officeDocument/2006/relationships/image" Target="../media/image12.png"/><Relationship Id="rId20" Type="http://schemas.openxmlformats.org/officeDocument/2006/relationships/image" Target="../media/image13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2.xml"/><Relationship Id="rId12" Type="http://schemas.openxmlformats.org/officeDocument/2006/relationships/slideLayout" Target="../slideLayouts/slideLayout163.xml"/><Relationship Id="rId13" Type="http://schemas.openxmlformats.org/officeDocument/2006/relationships/slideLayout" Target="../slideLayouts/slideLayout164.xml"/><Relationship Id="rId14" Type="http://schemas.openxmlformats.org/officeDocument/2006/relationships/slideLayout" Target="../slideLayouts/slideLayout165.xml"/><Relationship Id="rId15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67.xml"/><Relationship Id="rId17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1.xml"/><Relationship Id="rId15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4.xml"/><Relationship Id="rId18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3.xml"/><Relationship Id="rId10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198.xml"/><Relationship Id="rId15" Type="http://schemas.openxmlformats.org/officeDocument/2006/relationships/slideLayout" Target="../slideLayouts/slideLayout199.xml"/><Relationship Id="rId16" Type="http://schemas.openxmlformats.org/officeDocument/2006/relationships/slideLayout" Target="../slideLayouts/slideLayout200.xml"/><Relationship Id="rId17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4.xml"/><Relationship Id="rId15" Type="http://schemas.openxmlformats.org/officeDocument/2006/relationships/slideLayout" Target="../slideLayouts/slideLayout215.xml"/><Relationship Id="rId16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17.xml"/><Relationship Id="rId18" Type="http://schemas.openxmlformats.org/officeDocument/2006/relationships/theme" Target="../theme/theme13.xml"/><Relationship Id="rId19" Type="http://schemas.openxmlformats.org/officeDocument/2006/relationships/image" Target="../media/image18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19.xml"/><Relationship Id="rId3" Type="http://schemas.openxmlformats.org/officeDocument/2006/relationships/slideLayout" Target="../slideLayouts/slideLayout220.xml"/><Relationship Id="rId4" Type="http://schemas.openxmlformats.org/officeDocument/2006/relationships/slideLayout" Target="../slideLayouts/slideLayout221.xml"/><Relationship Id="rId5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4.xml"/><Relationship Id="rId8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31.xml"/><Relationship Id="rId15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34.xml"/><Relationship Id="rId18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5.xml"/><Relationship Id="rId2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2.xml"/><Relationship Id="rId9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51.xml"/><Relationship Id="rId18" Type="http://schemas.openxmlformats.org/officeDocument/2006/relationships/theme" Target="../theme/theme15.xml"/><Relationship Id="rId19" Type="http://schemas.openxmlformats.org/officeDocument/2006/relationships/image" Target="../media/image12.png"/><Relationship Id="rId20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31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38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3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64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7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49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54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51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1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16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  <p:sldLayoutId id="2147483939" r:id="rId13"/>
    <p:sldLayoutId id="2147483940" r:id="rId14"/>
    <p:sldLayoutId id="2147483941" r:id="rId15"/>
    <p:sldLayoutId id="21474839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2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33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7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  <p:sldLayoutId id="2147484058" r:id="rId14"/>
    <p:sldLayoutId id="2147484059" r:id="rId15"/>
    <p:sldLayoutId id="2147484060" r:id="rId16"/>
    <p:sldLayoutId id="21474840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  <p:sldLayoutId id="2147484094" r:id="rId14"/>
    <p:sldLayoutId id="2147484095" r:id="rId15"/>
    <p:sldLayoutId id="2147484096" r:id="rId16"/>
    <p:sldLayoutId id="214748409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5.xml"/><Relationship Id="rId2" Type="http://schemas.openxmlformats.org/officeDocument/2006/relationships/audio" Target="../media/audio1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audio" Target="../media/audio2.wav"/><Relationship Id="rId3" Type="http://schemas.openxmlformats.org/officeDocument/2006/relationships/image" Target="../media/image2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3" Type="http://schemas.openxmlformats.org/officeDocument/2006/relationships/audio" Target="../media/audio2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audio" Target="../media/audio2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audio" Target="../media/audio3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audio" Target="../media/audio2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audio" Target="../media/audio2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audio" Target="../media/audio3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audio" Target="../media/audio2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audio" Target="../media/audio2.wav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audio" Target="../media/audio4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audio" Target="../media/audio3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audio" Target="../media/audio2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audio" Target="../media/audio2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audio" Target="../media/audio3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audio" Target="../media/audio2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audio" Target="../media/audio2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audio" Target="../media/audio3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audio" Target="../media/audio2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audio" Target="../media/audio2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audio" Target="../media/audio2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audio" Target="../media/audio3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audio" Target="../media/audio3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audio" Target="../media/audio2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4.xml"/><Relationship Id="rId2" Type="http://schemas.openxmlformats.org/officeDocument/2006/relationships/audio" Target="../media/audio3.wav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4.xml"/><Relationship Id="rId2" Type="http://schemas.openxmlformats.org/officeDocument/2006/relationships/audio" Target="../media/audio2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4.xml"/><Relationship Id="rId2" Type="http://schemas.openxmlformats.org/officeDocument/2006/relationships/audio" Target="../media/audio2.wav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audio" Target="../media/audio2.wav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Relationship Id="rId2" Type="http://schemas.openxmlformats.org/officeDocument/2006/relationships/audio" Target="../media/audio1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.xml"/><Relationship Id="rId3" Type="http://schemas.openxmlformats.org/officeDocument/2006/relationships/audio" Target="../media/audio3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audio" Target="../media/audio2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audio" Target="../media/audio3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audio" Target="../media/audio2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audio" Target="../media/audio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643" y="719847"/>
            <a:ext cx="6948791" cy="2624746"/>
          </a:xfr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>
            <a:normAutofit/>
          </a:bodyPr>
          <a:lstStyle/>
          <a:p>
            <a:r>
              <a:rPr lang="si-LK" dirty="0" smtClean="0">
                <a:solidFill>
                  <a:srgbClr val="F5F9FF"/>
                </a:solidFill>
                <a:latin typeface="0KDARALIYA" pitchFamily="2" charset="0"/>
              </a:rPr>
              <a:t/>
            </a:r>
            <a:br>
              <a:rPr lang="si-LK" dirty="0" smtClean="0">
                <a:latin typeface="0KDARALIYA" pitchFamily="2" charset="0"/>
              </a:rPr>
            </a:br>
            <a:endParaRPr lang="en-US" dirty="0">
              <a:latin typeface="0KDARALIYA" pitchFamily="2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692396" y="3766238"/>
            <a:ext cx="6815669" cy="1320802"/>
          </a:xfr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/>
          <a:lstStyle/>
          <a:p>
            <a:r>
              <a:rPr lang="en-US" dirty="0" smtClean="0">
                <a:solidFill>
                  <a:srgbClr val="F5F9FF"/>
                </a:solidFill>
                <a:latin typeface="Wide Latin" panose="020A0A07050505020404" pitchFamily="18" charset="0"/>
              </a:rPr>
              <a:t>GRADE 7 </a:t>
            </a:r>
          </a:p>
          <a:p>
            <a:r>
              <a:rPr lang="en-US" dirty="0" smtClean="0">
                <a:solidFill>
                  <a:srgbClr val="F5F9FF"/>
                </a:solidFill>
                <a:latin typeface="Elephant" panose="02020904090505020303" pitchFamily="18" charset="0"/>
              </a:rPr>
              <a:t>P.T.S</a:t>
            </a:r>
            <a:endParaRPr lang="en-US" dirty="0">
              <a:latin typeface="Elephant" panose="02020904090505020303" pitchFamily="18" charset="0"/>
            </a:endParaRPr>
          </a:p>
        </p:txBody>
      </p:sp>
      <p:sp>
        <p:nvSpPr>
          <p:cNvPr id="6" name="Vertical Scroll 5"/>
          <p:cNvSpPr/>
          <p:nvPr/>
        </p:nvSpPr>
        <p:spPr>
          <a:xfrm>
            <a:off x="2997108" y="1010760"/>
            <a:ext cx="6206247" cy="1857983"/>
          </a:xfrm>
          <a:prstGeom prst="verticalScroll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800" b="1" dirty="0" smtClean="0">
                <a:solidFill>
                  <a:srgbClr val="F5F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ව්‍යාපාර කටයුතු</a:t>
            </a:r>
            <a:endParaRPr lang="si-LK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48125" y="6092575"/>
            <a:ext cx="4726113" cy="36933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5F9FF"/>
                </a:solidFill>
              </a:rPr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73744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drumroll.wav"/>
          </p:stSnd>
        </p:sndAc>
      </p:transition>
    </mc:Choice>
    <mc:Fallback>
      <p:transition spd="slow">
        <p:fade/>
        <p:sndAc>
          <p:stSnd>
            <p:snd r:embed="rId2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805" y="4605913"/>
            <a:ext cx="7777537" cy="1323439"/>
          </a:xfrm>
          <a:prstGeom prst="rect">
            <a:avLst/>
          </a:prstGeom>
          <a:ln w="19050">
            <a:prstDash val="sysDash"/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si-LK" sz="2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5F9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භාණ්ඩ හා සේවා හුවමාරු කර ගැනීම සඳහා මිලක් ගෙවීමට හැකි ඉල්ලුම්කරුවන් හා සැපයුම්කරුවන් ඒකරාශී වන ඕනෑම ස්ථානයක් වෙළඳපොළක් ලෙස හැඳින්වේ. ග්‍රාමීය ප්‍රදේශවලත් විවිධ ආකාරයේ වෙළඳපොළවල් ඇත.</a:t>
            </a:r>
            <a:endParaRPr lang="en-US" sz="2000" b="1" cap="none" spc="0" dirty="0" smtClean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51334" y="619710"/>
            <a:ext cx="6096000" cy="1323439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000" b="1" i="0" dirty="0" smtClean="0">
                <a:solidFill>
                  <a:srgbClr val="F5F9FF"/>
                </a:solidFill>
                <a:effectLst/>
                <a:latin typeface="Inter"/>
              </a:rPr>
              <a:t>භාණ්ඩ හා සේවා හුවමාරු කර ගැනීම සඳහා මිලක් ගෙවීමට හැකි ඉල්ලුම්කරුවන් හා සැපයුම්කරුවන් ඒකරාශී වන ඕනෑම ස්ථානයක් වෙළඳපොළක් ලෙස හැඳින්වේ. ග්‍රාමීය ප්‍රදේශවලත් විවිධ ආකාරයේ වෙළඳපොළවල් ඇත.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9" y="2023009"/>
            <a:ext cx="4855221" cy="258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88932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camera.wav"/>
          </p:stSnd>
        </p:sndAc>
      </p:transition>
    </mc:Choice>
    <mc:Fallback>
      <p:transition spd="slow">
        <p:split orient="vert"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/>
          <p:cNvSpPr/>
          <p:nvPr/>
        </p:nvSpPr>
        <p:spPr>
          <a:xfrm>
            <a:off x="3131617" y="306048"/>
            <a:ext cx="5615873" cy="891574"/>
          </a:xfrm>
          <a:prstGeom prst="flowChartTerminator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dirty="0" smtClean="0">
                <a:solidFill>
                  <a:srgbClr val="F5F9FF"/>
                </a:solidFill>
              </a:rPr>
              <a:t>නූතන වෙළඳපොළෙහි මූලික ලක්ෂණ:</a:t>
            </a:r>
            <a:endParaRPr lang="si-LK" dirty="0"/>
          </a:p>
        </p:txBody>
      </p:sp>
      <p:sp>
        <p:nvSpPr>
          <p:cNvPr id="7" name="TextBox 6"/>
          <p:cNvSpPr txBox="1"/>
          <p:nvPr/>
        </p:nvSpPr>
        <p:spPr>
          <a:xfrm>
            <a:off x="-64737" y="1440343"/>
            <a:ext cx="9839915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rgbClr val="F5F9FF"/>
                </a:solidFill>
              </a:rPr>
              <a:t>සැපයුම්කරුවෝ විශාල පිරිසක් වෙළඳපොළට භාණ්ඩ හා සේවා සැපයීමේ නිරතව සිටින අතර ඔවුහු ඉල්ලුම්කරුවන්ගේ කැමැත්ත සඳහා විවිධ උපාය  අනුගමනය කරති.</a:t>
            </a:r>
            <a:endParaRPr lang="si-LK" sz="2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56565" y="2306888"/>
            <a:ext cx="8965975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rgbClr val="F5F9FF"/>
                </a:solidFill>
              </a:rPr>
              <a:t> ප්‍රමාණාත්මක වශයෙන් ඉල්ලුම්කරුවන් විශාල පිරිසක් භාණ්ඩ හා සේවා මිලදී ගැනීමට වෙළඳපොළට පැමිණෙයි.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133673"/>
            <a:ext cx="10301162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rgbClr val="F5F9FF"/>
                </a:solidFill>
              </a:rPr>
              <a:t>වෙළඳපොලේ</a:t>
            </a:r>
            <a:r>
              <a:rPr lang="en-US" sz="2200" dirty="0">
                <a:solidFill>
                  <a:srgbClr val="F5F9FF"/>
                </a:solidFill>
              </a:rPr>
              <a:t> </a:t>
            </a:r>
            <a:r>
              <a:rPr lang="si-LK" sz="2200" dirty="0" smtClean="0">
                <a:solidFill>
                  <a:srgbClr val="F5F9FF"/>
                </a:solidFill>
              </a:rPr>
              <a:t> මිල තීරණය වන්නේ ඉල්ලුම්කරුවන්ට සැපයුම්කරුවන්ටත්  එකඟ වූ මිලකටය.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56565" y="3915512"/>
            <a:ext cx="7938287" cy="110799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rgbClr val="F5F9FF"/>
                </a:solidFill>
              </a:rPr>
              <a:t>  වෙළෙඳපොලේ දක්නට ලැබෙන භාණ්ඩ අතරින් විවිධ සැපයුම්කරුවන් විසින්  එකම පන්නයේ භාණ්ඩ වෙළඳපොලට යොමු කරයි. මේවා සමජාතීය භාණ්ඩ ලෙස හඳුන්වයි.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5078506"/>
            <a:ext cx="8763674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rgbClr val="F5F9FF"/>
                </a:solidFill>
              </a:rPr>
              <a:t>නූතන වෙළඳසැල් වල ඉල්ලුම්කරුවාට නිදහසේ තමාට අවශ්‍ය ආකාරයට භාණ්ඩ තෝරා ගැනීමට දීම කැපී පෙනෙන ලක්ෂණයකි.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463972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ud Callout 2"/>
          <p:cNvSpPr/>
          <p:nvPr/>
        </p:nvSpPr>
        <p:spPr>
          <a:xfrm>
            <a:off x="4321651" y="107092"/>
            <a:ext cx="4566976" cy="2084174"/>
          </a:xfrm>
          <a:prstGeom prst="cloudCallou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b="1" dirty="0" smtClean="0">
                <a:solidFill>
                  <a:srgbClr val="F5F9FF"/>
                </a:solidFill>
              </a:rPr>
              <a:t>හොඳම දෑ හොඳම තැනකින් හොඳට සිතා බලා මිලදී ගනිමු.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Vertical Scroll 5"/>
          <p:cNvSpPr/>
          <p:nvPr/>
        </p:nvSpPr>
        <p:spPr>
          <a:xfrm>
            <a:off x="790832" y="3105665"/>
            <a:ext cx="10033686" cy="3624648"/>
          </a:xfrm>
          <a:prstGeom prst="verticalScroll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si-LK" sz="2800" dirty="0" smtClean="0" b="1">
                <a:ln w="22225">
                  <a:solidFill>
                    <a:schemeClr val="bg1"/>
                  </a:solidFill>
                  <a:prstDash val="solid"/>
                </a:ln>
                <a:solidFill>
                  <a:srgbClr val="F5F9FF"/>
                </a:solidFill>
              </a:rPr>
              <a:t> </a:t>
            </a:r>
            <a:r>
              <a:rPr lang="si-LK" sz="2800" dirty="0" smtClean="0" b="1">
                <a:ln w="22225">
                  <a:solidFill>
                    <a:schemeClr val="bg1"/>
                  </a:solidFill>
                  <a:prstDash val="solid"/>
                </a:ln>
                <a:solidFill>
                  <a:srgbClr val="F5F9FF"/>
                </a:solidFill>
              </a:rPr>
              <a:t>සමජාතීය භාණ්ඩ හා සේවා සපයන සැපයුම්කරුවන් මෙන්ම ඉල්ලුම්කරුවන් රාශියක් සිටින නූතන වෙළඳපොල සංකීර්ණ හා දැඩි තරගකාරී ස්වභාවයක් ගනී.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si-LK" sz="2800" dirty="0" smtClean="0" b="1">
                <a:ln w="22225">
                  <a:solidFill>
                    <a:schemeClr val="bg1"/>
                  </a:solidFill>
                  <a:prstDash val="solid"/>
                </a:ln>
                <a:solidFill>
                  <a:srgbClr val="F5F9FF"/>
                </a:solidFill>
              </a:rPr>
              <a:t>එම භාණ්ඩ අතුරින් පාරිභෝගිකයා  වැය කරන මුදලට සරිලන තෘප්තියක් ලබාගැනීමට භාණ්ඩ හා සේවා  තෝරා  ගැනීමේදී විවිධ කරුණු පිළිබඳව අවධානය යොමු කරයි. </a:t>
            </a:r>
            <a:endParaRPr lang="en-US" sz="28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116949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edefined Process 1"/>
          <p:cNvSpPr/>
          <p:nvPr/>
        </p:nvSpPr>
        <p:spPr>
          <a:xfrm>
            <a:off x="3459891" y="164755"/>
            <a:ext cx="5412260" cy="2759676"/>
          </a:xfrm>
          <a:prstGeom prst="flowChartPredefinedProcess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31750"/>
          </a:effectLst>
          <a:scene3d>
            <a:camera prst="orthographicFront"/>
            <a:lightRig rig="threePt" dir="t"/>
          </a:scene3d>
          <a:sp3d>
            <a:bevelT prst="slope"/>
          </a:sp3d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600" b="1" dirty="0" smtClean="0">
                <a:solidFill>
                  <a:srgbClr val="F5F9FF"/>
                </a:solidFill>
              </a:rPr>
              <a:t>පාරිභෝගිකයාගේ තෘප්තිය සඳහා හා පාරිභෝගිකයා වැය කරන මුදලට සරිලන හාණ්ඩ හා සේවා තෝරා ගැනීමේදී පහත කරුණු පිළිබඳව අවධානය යොමු කරයි. 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0746" y="3534030"/>
            <a:ext cx="9588843" cy="236988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2800" b="1" dirty="0" smtClean="0">
                <a:solidFill>
                  <a:srgbClr val="F5F9FF"/>
                </a:solidFill>
              </a:rPr>
              <a:t> </a:t>
            </a:r>
            <a:r>
              <a:rPr lang="si-LK" sz="3600" b="1" i="1" u="sng" dirty="0" smtClean="0">
                <a:solidFill>
                  <a:srgbClr val="F5F9FF"/>
                </a:solidFill>
              </a:rPr>
              <a:t>මිල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 යමක් මිලදී ගැනීමට පෙර බොහෝ පාරිභෝගිකයන් විකුණුම් මිල</a:t>
            </a:r>
            <a:r>
              <a:rPr lang="en-US" sz="2800" dirty="0" smtClean="0" b="1">
                <a:solidFill>
                  <a:srgbClr val="F5F9FF"/>
                </a:solidFill>
              </a:rPr>
              <a:t> </a:t>
            </a:r>
            <a:r>
              <a:rPr lang="si-LK" sz="2800" dirty="0" smtClean="0" b="1">
                <a:solidFill>
                  <a:srgbClr val="F5F9FF"/>
                </a:solidFill>
              </a:rPr>
              <a:t>විමසා වෙළඳපොලේ පවතින සමජාතීය භාණ්ඩ අතුරින් භාණ්ඩ මිල ගණන් සසදා මිලට ගන්නෙ කුමක්ද යන්න තීරණය කරයි.</a:t>
            </a:r>
          </a:p>
          <a:p>
            <a:r>
              <a:rPr lang="si-LK" sz="2800" dirty="0" smtClean="0" b="1">
                <a:solidFill>
                  <a:srgbClr val="F5F9FF"/>
                </a:solidFill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95550328"/>
      </p:ext>
    </p:extLst>
    <p:bgPr>
      <a:solidFill>
        <a:srgbClr val="09122D"/>
      </a:solidFill>
      <a:effectLst/>
    </p:bgPr>
  </p:cSld>
  <p:clrMapOvr>
    <a:masterClrMapping/>
  </p:clrMapOvr>
  <p:transition spd="slow">
    <p:randomBar dir="vert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190" y="140043"/>
            <a:ext cx="10157254" cy="2800767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i="1" u="sng" dirty="0" smtClean="0">
                <a:solidFill>
                  <a:srgbClr val="F5F9FF"/>
                </a:solidFill>
              </a:rPr>
              <a:t>ක්‍රය ශක්තිය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පාරිභෝගිකයා අත ඇති මුදල අනුව ඔහුගේ මිලදීගැනීමේ හැකියාව හෙවත් ක්‍රය ශක්තිය තීරණය වේ.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ඉහල ක්‍රය ශක්තියක් ඇති පාරිභෝගිකයන් මිල අධික භාණ්ඩ ඉල්ලුම් කරන අතර ක්‍රය ශක්තිය අඩු පාරිභෝගිකයන් මිල අඩු භාණ්ඩ තෝරාගනියි.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65190" y="2940810"/>
            <a:ext cx="8657968" cy="36625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i="1" u="sng" dirty="0" smtClean="0">
                <a:solidFill>
                  <a:srgbClr val="F5F9FF"/>
                </a:solidFill>
              </a:rPr>
              <a:t>ගුණාත්මක බව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භාණ්ඩයක මිල සමග ගුණාත්මක බව ද ගැනුම්කරුවන්ගේ සැලකිල්ලට භාජනය වේ.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භාණ්ඩයක කල්පැවැත්ම,ක්‍රියාකාරිත්වය හා නිමාව අනුව එම භාණ්ඩයේ ගුණාත්මක බව තීරණය වෙයි.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ගුණාත්මක බව වැඩි භාණ්ඩවල මිල ඉහළ මට්ටමක පවතින අතර ගුණාත්මක බව ඉහල යන විට විකුණුම් මිලද ඉහළ යයි.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0648203"/>
      </p:ext>
    </p:extLst>
    <p:bgPr>
      <a:solidFill>
        <a:srgbClr val="09122D"/>
      </a:solidFill>
      <a:effectLst/>
    </p:bgPr>
  </p:cSld>
  <p:clrMapOvr>
    <a:masterClrMapping/>
  </p:clrMapOvr>
  <p:transition spd="slow">
    <p:randomBar dir="vert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7811" y="491706"/>
            <a:ext cx="9445925" cy="236988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i="1" u="sng" dirty="0" smtClean="0">
                <a:solidFill>
                  <a:srgbClr val="F5F9FF"/>
                </a:solidFill>
              </a:rPr>
              <a:t>රුචිකත්වය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පාරිභෝගික කැමැත්ත නැතහොත් රුචිකත්වය අනුවද තෝරාගන්නා භාණ්ඩය කුමක්දැයි තීරණය කෙරේ.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මෝස්තරය,නිමාව,වර්ණය,පෙනුම වැනි කරුණු රුචිකත්වයට  බලපෑමක් ඇති කරයි.</a:t>
            </a:r>
            <a:endParaRPr lang="si-LK" sz="2800" dirty="0"/>
          </a:p>
        </p:txBody>
      </p:sp>
      <p:sp>
        <p:nvSpPr>
          <p:cNvPr id="3" name="TextBox 2"/>
          <p:cNvSpPr txBox="1"/>
          <p:nvPr/>
        </p:nvSpPr>
        <p:spPr>
          <a:xfrm rot="10800000" flipH="1" flipV="1">
            <a:off x="537425" y="2837831"/>
            <a:ext cx="8925752" cy="236988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i="1" u="sng" dirty="0" smtClean="0">
                <a:solidFill>
                  <a:srgbClr val="F5F9FF"/>
                </a:solidFill>
              </a:rPr>
              <a:t>ප්‍රමිතිය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 b="1">
                <a:solidFill>
                  <a:srgbClr val="F5F9FF"/>
                </a:solidFill>
              </a:rPr>
              <a:t>නියමිත ප්‍රමිතියෙන් යුතු භාණ්ඩ සදහා ශ්‍රී ලංකා ප්‍රමිති ආයතනය මගින්</a:t>
            </a:r>
            <a:r>
              <a:rPr lang="si-LK" sz="2800" dirty="0" smtClean="0" b="1">
                <a:solidFill>
                  <a:srgbClr val="F5F9FF"/>
                </a:solidFill>
                <a:latin typeface="Viner Hand ITC" panose="03070502030502020203" pitchFamily="66" charset="0"/>
              </a:rPr>
              <a:t> </a:t>
            </a:r>
            <a:r>
              <a:rPr lang="en-US" sz="2800" b="1" u="sng" dirty="0" smtClean="0">
                <a:solidFill>
                  <a:srgbClr val="F5F9FF"/>
                </a:solidFill>
                <a:latin typeface="Viner Hand ITC" panose="03070502030502020203" pitchFamily="66" charset="0"/>
              </a:rPr>
              <a:t>SLS</a:t>
            </a:r>
            <a:r>
              <a:rPr lang="en-US" sz="2800" dirty="0" smtClean="0" b="1">
                <a:solidFill>
                  <a:srgbClr val="F5F9FF"/>
                </a:solidFill>
                <a:latin typeface="Viner Hand ITC" panose="03070502030502020203" pitchFamily="66" charset="0"/>
              </a:rPr>
              <a:t> </a:t>
            </a:r>
            <a:r>
              <a:rPr lang="si-LK" sz="2800" dirty="0" smtClean="0" b="1">
                <a:solidFill>
                  <a:srgbClr val="F5F9FF"/>
                </a:solidFill>
              </a:rPr>
              <a:t>සහතිකය නිකුත් කරනින් පාරිභෝගිකයා භාණ්ඩ මිලදීම ගැනීමේ දී ඒ පිළිබඳව සැලකිලිමත් විය යුතුය.</a:t>
            </a:r>
            <a:endParaRPr lang="si-LK" sz="2800" dirty="0"/>
          </a:p>
        </p:txBody>
      </p:sp>
    </p:spTree>
    <p:extLst>
      <p:ext uri="{BB962C8B-B14F-4D97-AF65-F5344CB8AC3E}">
        <p14:creationId xmlns:p14="http://schemas.microsoft.com/office/powerpoint/2010/main" val="1198457991"/>
      </p:ext>
    </p:extLst>
    <p:bgPr>
      <a:solidFill>
        <a:srgbClr val="0C193A"/>
      </a:solidFill>
      <a:effectLst/>
    </p:bgPr>
  </p:cSld>
  <p:clrMapOvr>
    <a:masterClrMapping/>
  </p:clrMapOvr>
  <p:transition spd="slow">
    <p:randomBar dir="vert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2"/>
          <p:cNvSpPr/>
          <p:nvPr/>
        </p:nvSpPr>
        <p:spPr>
          <a:xfrm>
            <a:off x="2785865" y="226694"/>
            <a:ext cx="6992449" cy="1700959"/>
          </a:xfrm>
          <a:prstGeom prst="homePlate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3200" dirty="0" smtClean="0" b="1">
                <a:solidFill>
                  <a:srgbClr val="F5F9FF"/>
                </a:solidFill>
              </a:rPr>
              <a:t>වෙළෙඳපොළ විෂමාචාර පිළිබඳව දැනුවත්  වෙමු. 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59027" y="2471352"/>
            <a:ext cx="7521146" cy="252376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ඉතා තරගකාරී නූතන වෙළඳපොල තුලින් අනෙකුත් භාණ්ඩ හා සේවා අභිබවා තම ආදායම වැඩිකර ගැනීම සඳහා සමහර සැපයුම්කරුවන් වැරදි ක්‍රියාවල යෙදෙනු ලැබේ.  එවැනි ක්‍රියා වෙළඳපොළ විෂමාචාර ලෙස හැඳින්වේ.</a:t>
            </a:r>
          </a:p>
          <a:p>
            <a:r>
              <a:rPr lang="si-LK" dirty="0" smtClean="0">
                <a:solidFill>
                  <a:srgbClr val="F5F9FF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8121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 1"/>
          <p:cNvSpPr/>
          <p:nvPr/>
        </p:nvSpPr>
        <p:spPr>
          <a:xfrm>
            <a:off x="3390181" y="293064"/>
            <a:ext cx="4623759" cy="2044694"/>
          </a:xfrm>
          <a:prstGeom prst="wave">
            <a:avLst>
              <a:gd name="adj1" fmla="val 12500"/>
              <a:gd name="adj2" fmla="val 211"/>
            </a:avLst>
          </a:prstGeom>
          <a:scene3d>
            <a:camera prst="isometricOffAxis1Right"/>
            <a:lightRig rig="threePt" dir="t"/>
          </a:scene3d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dirty="0" smtClean="0" b="1">
                <a:solidFill>
                  <a:srgbClr val="F5F9FF"/>
                </a:solidFill>
              </a:rPr>
              <a:t>වෙළඳපොල විෂමාචාර </a:t>
            </a:r>
            <a:endParaRPr lang="en-US" sz="40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26" y="2751826"/>
            <a:ext cx="10058400" cy="39703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 b="1">
                <a:solidFill>
                  <a:srgbClr val="F5F9FF"/>
                </a:solidFill>
              </a:rPr>
              <a:t>භාණ්ඩවල විකුණුම් මිල ප්‍රදර්ශනය නොකිරීම.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 b="1">
                <a:solidFill>
                  <a:srgbClr val="F5F9FF"/>
                </a:solidFill>
              </a:rPr>
              <a:t>නියමිත බර හෝ ප්‍රමාණය වෙනස්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 b="1">
                <a:solidFill>
                  <a:srgbClr val="F5F9FF"/>
                </a:solidFill>
              </a:rPr>
              <a:t>ගුණාත්මක බවින් අඩු භාණ්ඩ සමග මිශ්‍ර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 b="1">
                <a:solidFill>
                  <a:srgbClr val="F5F9FF"/>
                </a:solidFill>
              </a:rPr>
              <a:t>කල් ඉකුත් වූ භාණ්ඩ අලෙවි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 b="1">
                <a:solidFill>
                  <a:srgbClr val="F5F9FF"/>
                </a:solidFill>
              </a:rPr>
              <a:t>ඉතිරි මුදල් නිවරදිව ලබා නොදීම.</a:t>
            </a:r>
          </a:p>
          <a:p>
            <a:endParaRPr lang="si-LK" sz="3600" dirty="0" smtClean="0"/>
          </a:p>
          <a:p>
            <a:r>
              <a:rPr lang="si-LK" sz="3600" dirty="0" smtClean="0" b="1">
                <a:solidFill>
                  <a:srgbClr val="F5F9FF"/>
                </a:solidFill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8938315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1096123"/>
            <a:ext cx="10249786" cy="5772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0158" y="106326"/>
            <a:ext cx="6698512" cy="830997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i-LK" sz="4800" dirty="0" smtClean="0" b="1">
                <a:solidFill>
                  <a:srgbClr val="F5F9FF"/>
                </a:solidFill>
              </a:rPr>
              <a:t> </a:t>
            </a:r>
            <a:r>
              <a:rPr lang="si-LK" sz="4800" b="1" u="sng" dirty="0" smtClean="0">
                <a:solidFill>
                  <a:srgbClr val="F5F9FF"/>
                </a:solidFill>
              </a:rPr>
              <a:t>විවිධ ව්‍යාපාර සංවිධාන</a:t>
            </a:r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281522863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8855"/>
            <a:ext cx="9101469" cy="286232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i-LK" sz="3600" dirty="0" smtClean="0" b="1">
                <a:solidFill>
                  <a:srgbClr val="F5F9FF"/>
                </a:solidFill>
              </a:rPr>
              <a:t>පාරිභෝගිකයාට සේවය සපයා ලාභ  ලැබීමට පුද්ගලයකු හෝ පුද්ගල කණ්ඩායමක් ලෙස ඒකරාශී වීම </a:t>
            </a:r>
            <a:r>
              <a:rPr lang="si-LK" sz="3600" b="1" dirty="0" smtClean="0">
                <a:solidFill>
                  <a:srgbClr val="F5F9FF"/>
                </a:solidFill>
              </a:rPr>
              <a:t>ව්‍යාපාර සංවිධානයක් වේ</a:t>
            </a:r>
            <a:r>
              <a:rPr lang="si-LK" sz="3600" dirty="0" smtClean="0" b="1">
                <a:solidFill>
                  <a:srgbClr val="F5F9FF"/>
                </a:solidFill>
              </a:rPr>
              <a:t>. ඔවුන් ව්‍යාපාරයට යොදන සම්පත් </a:t>
            </a:r>
            <a:r>
              <a:rPr lang="si-LK" sz="3600" b="1" dirty="0" smtClean="0">
                <a:solidFill>
                  <a:srgbClr val="F5F9FF"/>
                </a:solidFill>
              </a:rPr>
              <a:t>ප්‍රාග්ධනය </a:t>
            </a:r>
            <a:r>
              <a:rPr lang="si-LK" sz="3600" dirty="0" smtClean="0" b="1">
                <a:solidFill>
                  <a:srgbClr val="F5F9FF"/>
                </a:solidFill>
              </a:rPr>
              <a:t>වේ</a:t>
            </a:r>
            <a:r>
              <a:rPr lang="en-US" sz="3600" dirty="0" smtClean="0" b="1">
                <a:solidFill>
                  <a:srgbClr val="F5F9FF"/>
                </a:solidFill>
              </a:rPr>
              <a:t>. </a:t>
            </a:r>
            <a:r>
              <a:rPr lang="si-LK" sz="3600" dirty="0" smtClean="0" b="1">
                <a:solidFill>
                  <a:srgbClr val="F5F9FF"/>
                </a:solidFill>
              </a:rPr>
              <a:t>ව්‍යාපාර සංවිධාන ක්‍රම කීපයකි.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732568" y="3338623"/>
            <a:ext cx="7570381" cy="170816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rgbClr val="F5F9FF"/>
                </a:solidFill>
              </a:rPr>
              <a:t>තනි පුද්ගල ව්‍යාපාර 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rgbClr val="F5F9FF"/>
                </a:solidFill>
              </a:rPr>
              <a:t>හවුල් පුද්ගල ව්‍යාපාර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rgbClr val="F5F9FF"/>
                </a:solidFill>
              </a:rPr>
              <a:t>කුඩා පෞද්ගලික සමාගම්</a:t>
            </a:r>
            <a:endParaRPr lang="en-US" sz="35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854739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0358" y="2796362"/>
            <a:ext cx="7921256" cy="39703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600" dirty="0" smtClean="0" b="1">
                <a:solidFill>
                  <a:srgbClr val="F5F9FF"/>
                </a:solidFill>
              </a:rPr>
              <a:t>ව්‍යාපාරයේ අයිතිය එක් පුද්ගලයෙකු සතු වන ව්‍යාපාර,තනි පුද්ගල ව්‍යාපාර ලෙස හැඳින්වේ.</a:t>
            </a:r>
            <a:r>
              <a:rPr lang="en-US" sz="3600" dirty="0" smtClean="0" b="1">
                <a:solidFill>
                  <a:srgbClr val="F5F9FF"/>
                </a:solidFill>
              </a:rPr>
              <a:t> </a:t>
            </a:r>
            <a:r>
              <a:rPr lang="si-LK" sz="3600" dirty="0" smtClean="0" b="1">
                <a:solidFill>
                  <a:srgbClr val="F5F9FF"/>
                </a:solidFill>
              </a:rPr>
              <a:t>ගෘහාශ්‍රිත ව්‍යාපාර වලින් වැඩි ප්‍රමාණයක් මෙම ගණයට අයත් වේ.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කුඩා සිල්ලර වෙළඳසැල්,ඇදුම් මසන්නන්,එලවළු පලතුරු විකණන්නන් වැඩි දෙනෙකු තනිපුද්ගල ව්‍යාපාරිකයන් වේ. </a:t>
            </a:r>
            <a:endParaRPr lang="en-US" sz="3600" dirty="0"/>
          </a:p>
        </p:txBody>
      </p:sp>
      <p:sp>
        <p:nvSpPr>
          <p:cNvPr id="4" name="Notched Right Arrow 3"/>
          <p:cNvSpPr/>
          <p:nvPr/>
        </p:nvSpPr>
        <p:spPr>
          <a:xfrm>
            <a:off x="414669" y="414669"/>
            <a:ext cx="5699052" cy="2519916"/>
          </a:xfrm>
          <a:prstGeom prst="notchedRightArrow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solidFill>
            <a:srgbClr val="3769A5">
              <a:alpha val="23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dirty="0" smtClean="0" b="1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rgbClr val="F5F9FF"/>
                </a:solidFill>
              </a:rPr>
              <a:t>තනි පුද්ගල ව්‍යාපාර</a:t>
            </a:r>
            <a:endParaRPr lang="en-US" sz="4000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81248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9526" y="255181"/>
            <a:ext cx="6432698" cy="1200329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srgbClr val="F5F9FF"/>
                </a:solidFill>
                <a:latin typeface="0KDARALIYA" pitchFamily="2" charset="0"/>
              </a:rPr>
              <a:t>තනි පුද්ගල ව්‍යාපාර සංවිධාන  </a:t>
            </a:r>
            <a:r>
              <a:rPr lang="en-US" sz="3600" b="1" dirty="0" smtClean="0">
                <a:solidFill>
                  <a:srgbClr val="F5F9FF"/>
                </a:solidFill>
                <a:latin typeface="0KDARALIYA" pitchFamily="2" charset="0"/>
              </a:rPr>
              <a:t>         </a:t>
            </a:r>
            <a:r>
              <a:rPr lang="si-LK" sz="3600" b="1" dirty="0" smtClean="0">
                <a:solidFill>
                  <a:srgbClr val="F5F9FF"/>
                </a:solidFill>
                <a:latin typeface="0KDARALIYA" pitchFamily="2" charset="0"/>
              </a:rPr>
              <a:t>ක්‍රමයේ වාසි</a:t>
            </a:r>
            <a:endParaRPr lang="en-US" sz="3600" b="1" dirty="0">
              <a:latin typeface="0KDARALIYA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754" y="2339162"/>
            <a:ext cx="10069033" cy="39703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කුඩා  මුදලකින් හා අයිතිකරුගේ වෙනත් දේපළ යොදා පහසුවෙන් ව්‍යාපාරය ආරම්භ කළ හැකි වේ.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 ව්‍යාපාරයෙන් නිරත වීමෙන් ලැබෙන  ලාභය මුළුමනින්ම අයිතිකරුට හිමි වේ.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වෘත්තීය පුහුණුව හා පුද්ගලයින්ගේ විශේෂ දක්‍ෂතා ප්‍රයෝජනයට ගෙන දියුණු වීමට තනි ව්‍යාපාර ක්‍රමය ඉතා සුදුසුය 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ව්‍යාපාරික තීරණ ගැනීමේ දී අයිතිකරුට තම තනි කැමැත්ත අනුව ස්වාධීනව කටයුතු කල හැකිය.</a:t>
            </a:r>
          </a:p>
          <a:p>
            <a:r>
              <a:rPr lang="si-LK" sz="2800" dirty="0" smtClean="0" b="1">
                <a:solidFill>
                  <a:srgbClr val="F5F9FF"/>
                </a:solidFill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5202949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748" y="451811"/>
            <a:ext cx="6634716" cy="584775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solidFill>
                  <a:srgbClr val="F5F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තනි පුද්ගල ව්‍යාපාර ක්‍රමයේ අවාසි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AutoShape 2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2775" y="2030818"/>
            <a:ext cx="8995144" cy="353943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ව්‍යාපාරය අලාභදායක  තත්ත්වයක් ඇති වුණොත් අයිතිකරු තනිවම ඊට මුහුණ දිය යුතුය.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අයිතිකරුගේ කළමනාකරණ දුර්වලතා නිසා  ව්‍යාපාරය බිඳවැටීමක් සිදුවුවහොත්  ව්‍යාපාරයට යෙදූ මුදල් සම්පූර්ණයෙන්ම අහිමි වී යයි.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 b="1">
                <a:solidFill>
                  <a:srgbClr val="F5F9FF"/>
                </a:solidFill>
              </a:rPr>
              <a:t> ව්‍යාපාර හිමි කරුවන් විසින්  තනිවම ප්‍රාග්ධන මුදල් යෙදවීම මෙන් ම එදිනෙදා සියලු ව්‍යාපාර කටයුතු කළමනාකරණය කිරීමද සිදුකළ යුතුය.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8851919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2753" y="1988289"/>
            <a:ext cx="7591646" cy="156966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dirty="0" smtClean="0" b="1">
                <a:solidFill>
                  <a:srgbClr val="F5F9FF"/>
                </a:solidFill>
              </a:rPr>
              <a:t>හවුල් ව්‍යාපාර යනු,</a:t>
            </a:r>
          </a:p>
          <a:p>
            <a:r>
              <a:rPr lang="si-LK" sz="3200" dirty="0" smtClean="0" b="1">
                <a:solidFill>
                  <a:srgbClr val="F5F9FF"/>
                </a:solidFill>
              </a:rPr>
              <a:t> කිහිප දෙනෙක් එකතු වී ලාභ ලබාගැනීමේ අපේක්ෂාවෙන් සිදුකරනු ලබන ව්‍යාපාරයි </a:t>
            </a:r>
            <a:r>
              <a:rPr lang="si-LK" sz="2800" dirty="0" smtClean="0" b="1">
                <a:solidFill>
                  <a:srgbClr val="F5F9FF"/>
                </a:solidFill>
              </a:rPr>
              <a:t>.</a:t>
            </a:r>
            <a:endParaRPr lang="en-US" sz="2800" dirty="0"/>
          </a:p>
        </p:txBody>
      </p:sp>
      <p:sp>
        <p:nvSpPr>
          <p:cNvPr id="4" name="Notched Right Arrow 3"/>
          <p:cNvSpPr/>
          <p:nvPr/>
        </p:nvSpPr>
        <p:spPr>
          <a:xfrm>
            <a:off x="180754" y="318976"/>
            <a:ext cx="4720855" cy="2126512"/>
          </a:xfrm>
          <a:prstGeom prst="notchedRightArrow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solidFill>
            <a:srgbClr val="3769A5">
              <a:alpha val="23000"/>
            </a:srgb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ln w="0"/>
                <a:solidFill>
                  <a:srgbClr val="F5F9FF"/>
                </a:solidFill>
              </a:rPr>
              <a:t>හවුල් ව්‍යාපාර</a:t>
            </a:r>
            <a:endParaRPr lang="en-US" sz="40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4548" y="4114801"/>
            <a:ext cx="9016409" cy="156966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dirty="0" smtClean="0" b="1">
                <a:solidFill>
                  <a:srgbClr val="F5F9FF"/>
                </a:solidFill>
              </a:rPr>
              <a:t>වෘත්තීය දක්ෂතා,විශේෂ හැකියාවෙන් මෙන්ම ව්‍යාපාරික අත්දැකීම්, පළපුරුද්ද ඇති ඉතා පහසුවෙන් හවුල් ව්‍යාපාරයක් කරගෙන යා හැකිය.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82863530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8921" y="637953"/>
            <a:ext cx="7772400" cy="707886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4000" b="1" i="1" u="sng" dirty="0" smtClean="0">
                <a:solidFill>
                  <a:srgbClr val="F5F9FF"/>
                </a:solidFill>
              </a:rPr>
              <a:t>හවුල් ව්‍යාපාර සංවිධාන ක්‍රමයේ වාසි </a:t>
            </a:r>
            <a:endParaRPr lang="en-US" sz="40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105786" y="1945757"/>
            <a:ext cx="10047767" cy="353943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>
                <a:solidFill>
                  <a:srgbClr val="F5F9FF"/>
                </a:solidFill>
              </a:rPr>
              <a:t>තනි පුද්ගල ව්‍යාපාර වලට මෙන්ම හවුල් ව්‍යාපාර වලටද බලපාන නීති රීති අඩු නිසා ආරම්භ කිරීමට පහසු ය.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>
                <a:solidFill>
                  <a:srgbClr val="F5F9FF"/>
                </a:solidFill>
              </a:rPr>
              <a:t>කිහිපදෙනෙකු ප්‍රාග්ධනය යෙදීමට සම්බන්ද වෙන හෙයින් වැඩි ප්‍රාග්ධනයක් ඒකරාශී කරගත හැකිය.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>
                <a:solidFill>
                  <a:srgbClr val="F5F9FF"/>
                </a:solidFill>
              </a:rPr>
              <a:t>කටයුතුවල දී ඇතිවන ව්‍යාපාරික අවදානම හවුල් කරුවන් අතර බෙදීයන හෙයින් එක් අයෙකුට විශාල අවදානමක් දැරීමට සිදු වේ. 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05786" y="5357643"/>
            <a:ext cx="9558670" cy="10772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200" dirty="0" smtClean="0" b="1">
                <a:solidFill>
                  <a:srgbClr val="F5F9FF"/>
                </a:solidFill>
              </a:rPr>
              <a:t> </a:t>
            </a:r>
            <a:r>
              <a:rPr lang="si-LK" sz="3200" b="1" dirty="0" smtClean="0">
                <a:solidFill>
                  <a:srgbClr val="F5F9FF"/>
                </a:solidFill>
              </a:rPr>
              <a:t>විවිධ දක්ෂතා ඇති පුද්ගලයින්  හවුල්කරුවන් ලෙස  ව්‍යාපාරයට සම්බන්ධ කර ගනීමටද. හැකිවේ.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8062643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2" name="camera.wav"/>
          </p:stSnd>
        </p:sndAc>
      </p:transition>
    </mc:Choice>
    <mc:Fallback>
      <p:transition spd="slow">
        <p:checker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5071" y="180753"/>
            <a:ext cx="6453963" cy="70788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4000" b="1" i="1" u="sng" dirty="0" smtClean="0">
                <a:solidFill>
                  <a:srgbClr val="F5F9FF"/>
                </a:solidFill>
              </a:rPr>
              <a:t>හවුල් ව්‍යාපාර ක්‍රමයේ අවාසි</a:t>
            </a:r>
            <a:endParaRPr lang="en-US" sz="40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308345" y="1456661"/>
            <a:ext cx="9314121" cy="501675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>
                <a:solidFill>
                  <a:srgbClr val="F5F9FF"/>
                </a:solidFill>
              </a:rPr>
              <a:t>භාර තීරණ ගැනීමේ දී  විවිධ මත දැරීම නිසා හවුල්කරුවන් අතර මත ගැටුම් ඇති වීමෙන් ව්‍යාපාරික කටයුතු අතරමග ඇණහිටීම ප්‍රධානම ගැටළුවක් ලෙස පිළිගනී.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>
                <a:solidFill>
                  <a:srgbClr val="F5F9FF"/>
                </a:solidFill>
              </a:rPr>
              <a:t>ව්‍යාපාරය උපයන ලාභය හවුල් කරුවන් අතර බෙදා හරින බැවින් හවුල්කරුවන්ට ලැබෙන්නේ ලාභ කොටසක් පමණී.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>
                <a:solidFill>
                  <a:srgbClr val="F5F9FF"/>
                </a:solidFill>
              </a:rPr>
              <a:t>සාමූහිතත්වය බිඳ වැටී විශේෂ දක්‍ෂතාව හා වැඩි ප්‍රාග්ධන මුදලක් යෙද වූ හවුල්කරුවෙකු  ඉවත්ව ගිය හොත් ව්‍යාපාරයට දුෂ්කර තත්ත්වයන්ට මුහුණ දීමට සිදුවේ.</a:t>
            </a:r>
            <a:endParaRPr lang="si-LK" sz="3200" b="1" dirty="0"/>
          </a:p>
        </p:txBody>
      </p:sp>
    </p:spTree>
    <p:extLst>
      <p:ext uri="{BB962C8B-B14F-4D97-AF65-F5344CB8AC3E}">
        <p14:creationId xmlns:p14="http://schemas.microsoft.com/office/powerpoint/2010/main" val="397441969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ched Right Arrow 1"/>
          <p:cNvSpPr/>
          <p:nvPr/>
        </p:nvSpPr>
        <p:spPr>
          <a:xfrm>
            <a:off x="520995" y="255181"/>
            <a:ext cx="4635796" cy="2594345"/>
          </a:xfrm>
          <a:prstGeom prst="notchedRightArrow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solidFill>
                  <a:srgbClr val="F5F9FF"/>
                </a:solidFill>
              </a:rPr>
              <a:t>කුඩා පුද්ගලික සමාගම්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08744" y="3700130"/>
            <a:ext cx="6974958" cy="36933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dirty="0" smtClean="0">
                <a:solidFill>
                  <a:srgbClr val="F5F9FF"/>
                </a:solidFill>
              </a:rPr>
              <a:t>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82290" y="663010"/>
            <a:ext cx="6096000" cy="6124754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 b="1">
                <a:solidFill>
                  <a:srgbClr val="F5F9FF"/>
                </a:solidFill>
              </a:rPr>
              <a:t>2007 අංක 07 දරණ සමාගම් පනත යටතේ අවමය එක් අයකුද උපරිමෙන් කොටස් කරුවන් 50 දෙනෙකුගේද සහභාගීත්වය ඇතිව පෞද්ගලික සමාගමක් ආරම්භ කල හැකිය.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 b="1">
                <a:solidFill>
                  <a:srgbClr val="F5F9FF"/>
                </a:solidFill>
              </a:rPr>
              <a:t>එක් අයකුට උවත් සමාගමක් ඇරඹීමේ හැකියාව පවතින අතර ඒවා කුඩා සමාගම් වේ.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 b="1">
                <a:solidFill>
                  <a:srgbClr val="F5F9FF"/>
                </a:solidFill>
              </a:rPr>
              <a:t>තනි පුද්ගල ව්‍යාපාර සහ හවුල් ව්‍යාපාරවලට වඩා වැඩි නීතිමය පසුබිමක් ඇති නිසා ි ප්‍රාග්ධනයක් ඒකරාශී කරගත හැකි ව්‍යාපාර සංවිධාන ක්‍රමයක් ලෙස කුඩා පෞද්ගලික සමාගම් හඳුන්වාදිය හැකියි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3382482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791" y="1095153"/>
            <a:ext cx="6879265" cy="1180214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Notched Right Arrow 2"/>
          <p:cNvSpPr/>
          <p:nvPr/>
        </p:nvSpPr>
        <p:spPr>
          <a:xfrm>
            <a:off x="584791" y="191385"/>
            <a:ext cx="4635796" cy="2594345"/>
          </a:xfrm>
          <a:prstGeom prst="notchedRightArrow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solidFill>
                  <a:srgbClr val="F5F9FF"/>
                </a:solidFill>
              </a:rPr>
              <a:t>කුඩා පුද්ගලික සමාගම්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92726" y="265813"/>
            <a:ext cx="5922335" cy="6186309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3600" dirty="0" smtClean="0" b="1">
                <a:solidFill>
                  <a:srgbClr val="F5F9FF"/>
                </a:solidFill>
              </a:rPr>
              <a:t>කොටස්කරුවන් මිලදී ගත් කොටස්වල වටිනාකමට සමානුපාතික ව වර්ෂ‍ය අවසානයේ ලාභාංශය ලැබේ.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3600" dirty="0" smtClean="0" b="1">
                <a:solidFill>
                  <a:srgbClr val="F5F9FF"/>
                </a:solidFill>
              </a:rPr>
              <a:t>ව්‍යාපාර සංවිධානය ක්‍රමයක් ලෙස සමාගම්වලට ව්‍යාපාරික ලෝකයේ වැඩි පිළිගැනීමක් පවතියි තනි ව්‍යාපාර හා හවුල් සසදා බැලීමේ දී සමාගම්වල ඇති ප්‍රබලතා කීපයක් වාසි ලෙස පෙන්වා දිය හැකිය</a:t>
            </a:r>
            <a:r>
              <a:rPr lang="si-LK" sz="3200" dirty="0" smtClean="0" b="1">
                <a:solidFill>
                  <a:srgbClr val="F5F9FF"/>
                </a:solidFill>
              </a:rPr>
              <a:t>.</a:t>
            </a:r>
            <a:endParaRPr lang="si-LK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89031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66483" y="31898"/>
            <a:ext cx="6262577" cy="1323439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si-LK" sz="4000" b="1" u="sng" dirty="0" smtClean="0">
                <a:solidFill>
                  <a:srgbClr val="F5F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කුඩා පෞද්ගලික සමාගම් ව්‍යාපාර ක්‍රමයේ වාසි</a:t>
            </a:r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2382" y="1791272"/>
            <a:ext cx="10090297" cy="483209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rgbClr val="F5F9FF"/>
                </a:solidFill>
              </a:rPr>
              <a:t>ප්‍රාග්ධන කොටස් විකිණීම තුළින් විශාල ප්‍රාග්ධනයක් නොහැකි කරගත හැකි වීම සමාගමේ</a:t>
            </a:r>
            <a:r>
              <a:rPr lang="en-US" sz="2800" b="1" dirty="0" smtClean="0">
                <a:solidFill>
                  <a:srgbClr val="F5F9FF"/>
                </a:solidFill>
              </a:rPr>
              <a:t> </a:t>
            </a:r>
            <a:r>
              <a:rPr lang="si-LK" sz="2800" b="1" dirty="0" smtClean="0">
                <a:solidFill>
                  <a:srgbClr val="F5F9FF"/>
                </a:solidFill>
              </a:rPr>
              <a:t>වර්දනයට හේතුවකි.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rgbClr val="F5F9FF"/>
                </a:solidFill>
              </a:rPr>
              <a:t>කළමනාකරුවන් ලෙස අධ්‍යක්ෂක මණ්ඩලයක් තෝරාගන්නා නිසා තනි ව්‍යාපාර හා හවුල් ව්‍යාපාරවලට වඩා වැඩි සාර්තකත්වයක් සමාගම්වල දක්නට ලැබේ.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rgbClr val="F5F9FF"/>
                </a:solidFill>
              </a:rPr>
              <a:t>ව්‍යාපාරය අසාර්ථක වී සමාගම බිඳ වැටීමක් සිදුවුවහොත් අයිතිකරුවන් හෙවත් කොටස්කරුවන්ට අහිමි වන්නේ මිලදීගත් ප්‍රාග්ධන කොටස්වල වටිනාකම පමණකි.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rgbClr val="F5F9FF"/>
                </a:solidFill>
              </a:rPr>
              <a:t>කොටස්කරුවන් විසින් මිලදී ගත් කොටස් වෙනත් අයට විකුණා දැමුවත් සමාගම වසා දැමීමට සිදුනොවේ. සමාගමට දීර්ඝ කාලීන අඛණ්ඩ පැවැත්මක් තිබේ. 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107952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9404" y="350875"/>
            <a:ext cx="6262577" cy="1569660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si-LK" sz="4800" b="1" u="sng" dirty="0" smtClean="0">
                <a:solidFill>
                  <a:srgbClr val="F5F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කුඩා පෞද්ගලික සමාගම් ව්‍යාපාර ක්‍රමයේ අවාසි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813" y="2477387"/>
            <a:ext cx="10558130" cy="378565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si-LK" sz="4000" b="1" dirty="0" smtClean="0">
                <a:solidFill>
                  <a:srgbClr val="F5F9FF"/>
                </a:solidFill>
              </a:rPr>
              <a:t>සමාගමක් ආරම්භ කිරීමේදී සහ පවත්වාගෙන යෑමේදී නීති රීතිවල බලපෑම වැඩියි.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si-LK" sz="4000" b="1" dirty="0" smtClean="0">
                <a:solidFill>
                  <a:srgbClr val="F5F9FF"/>
                </a:solidFill>
              </a:rPr>
              <a:t> අඩු කොටස් හිමියන්ට ඇත්තේ සීමිත බලයකි. ඒ නිසා වැඩි කොටස් ගණනක් මිලට ගත් කොටස්කරුවන්ගේ අදහස් වලට වැඩි අවස්ථාවක් ලැබෙයි. </a:t>
            </a:r>
            <a:endParaRPr lang="si-LK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12663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42370" y="2698529"/>
            <a:ext cx="8310288" cy="707886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solidFill>
            <a:srgbClr val="3769A5">
              <a:alpha val="23000"/>
            </a:srgbClr>
          </a:solidFill>
        </p:spPr>
        <p:txBody>
          <a:bodyPr wrap="none">
            <a:spAutoFit/>
          </a:bodyPr>
          <a:lstStyle/>
          <a:p>
            <a:r>
              <a:rPr lang="si-LK" sz="4000" dirty="0" smtClean="0" b="1">
                <a:ln>
                  <a:solidFill>
                    <a:schemeClr val="tx1"/>
                  </a:solidFill>
                </a:ln>
                <a:solidFill>
                  <a:srgbClr val="F5F9FF"/>
                </a:solidFill>
              </a:rPr>
              <a:t>සැළසුම් කර නිපදවමු - පිරිවැය වාසි ලබම</a:t>
            </a:r>
            <a:r>
              <a:rPr lang="si-LK" sz="4000" dirty="0" smtClean="0" b="1">
                <a:solidFill>
                  <a:srgbClr val="F5F9FF"/>
                </a:solidFill>
              </a:rPr>
              <a:t>ු.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57278296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3647" y="133803"/>
            <a:ext cx="9119804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none">
            <a:spAutoFit/>
          </a:bodyPr>
          <a:lstStyle/>
          <a:p>
            <a:r>
              <a:rPr lang="si-LK" sz="4400" b="1" u="sng" dirty="0" smtClean="0">
                <a:solidFill>
                  <a:srgbClr val="F5F9FF"/>
                </a:solidFill>
              </a:rPr>
              <a:t>සැළසුම් කර නිපදවමු - පිරිවැය වාසි ලබමු.</a:t>
            </a:r>
            <a:endParaRPr lang="en-US" sz="44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223283" y="1563124"/>
            <a:ext cx="7049386" cy="5262979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>
                <a:solidFill>
                  <a:srgbClr val="F5F9FF"/>
                </a:solidFill>
              </a:rPr>
              <a:t>අපගේ අවශ්‍යතා හා වුවමනා සපුරා ගැනීමට භාණ්ඩ හා සේවා ගණනාවක් පරිභෝජනය කිරීමට සිදුවේ.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>
                <a:solidFill>
                  <a:srgbClr val="F5F9FF"/>
                </a:solidFill>
              </a:rPr>
              <a:t>එම නිෂ්පාදන සම්පත් සංකලනය කිරීමෙන් නිපදවන දේවල්ය.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>
                <a:solidFill>
                  <a:srgbClr val="F5F9FF"/>
                </a:solidFill>
              </a:rPr>
              <a:t> නිෂ්පාදන කටයුතුවලට ගන්නා සම්පත් යෙදවුම් වේ.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>
                <a:solidFill>
                  <a:srgbClr val="F5F9FF"/>
                </a:solidFill>
              </a:rPr>
              <a:t>යෙදවුම් ඒවායේ මූලික ස්වරූපයෙන් භාවිත කළ නොහැකියි.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>
                <a:solidFill>
                  <a:srgbClr val="F5F9FF"/>
                </a:solidFill>
              </a:rPr>
              <a:t>භාණ්ඩ සෑදීමට යොදා ඇති අමුද්‍රව්‍ය භාණ්ඩයේ ස්වභාවය අනුව වෙනස් වුවද භාණ්ඩයක් නිපදවීමට අමුද්‍රව්‍ය අත්‍යවශ්‍ය වෙයි.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359688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8986" y="42530"/>
            <a:ext cx="5699051" cy="144655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4400" b="1" u="sng" dirty="0" smtClean="0">
                <a:solidFill>
                  <a:srgbClr val="F5F9FF"/>
                </a:solidFill>
              </a:rPr>
              <a:t>නිෂ්පාදනයක් සදහා අවශ්‍ය මූලික කරුණු</a:t>
            </a:r>
            <a:endParaRPr lang="en-US" sz="44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54912" y="2402958"/>
            <a:ext cx="11068493" cy="2308324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si-LK" sz="3600" b="1" dirty="0" smtClean="0">
                <a:solidFill>
                  <a:srgbClr val="F5F9FF"/>
                </a:solidFill>
              </a:rPr>
              <a:t>භූමිය</a:t>
            </a:r>
            <a:r>
              <a:rPr lang="en-US" sz="3600" b="1" dirty="0" smtClean="0">
                <a:solidFill>
                  <a:srgbClr val="F5F9FF"/>
                </a:solidFill>
              </a:rPr>
              <a:t> [ </a:t>
            </a:r>
            <a:r>
              <a:rPr lang="en-US" sz="3600" b="1" dirty="0" smtClean="0">
                <a:solidFill>
                  <a:srgbClr val="F5F9FF"/>
                </a:solidFill>
                <a:latin typeface="Algerian" panose="04020705040A02060702" pitchFamily="82" charset="0"/>
              </a:rPr>
              <a:t>LAND PLACE </a:t>
            </a:r>
            <a:r>
              <a:rPr lang="en-US" sz="3600" b="1" dirty="0" smtClean="0">
                <a:solidFill>
                  <a:srgbClr val="F5F9FF"/>
                </a:solidFill>
              </a:rPr>
              <a:t>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>
                <a:solidFill>
                  <a:srgbClr val="F5F9FF"/>
                </a:solidFill>
              </a:rPr>
              <a:t>ශ්‍රමය</a:t>
            </a:r>
            <a:r>
              <a:rPr lang="en-US" sz="3600" b="1" dirty="0" smtClean="0">
                <a:solidFill>
                  <a:srgbClr val="F5F9FF"/>
                </a:solidFill>
              </a:rPr>
              <a:t> [ </a:t>
            </a:r>
            <a:r>
              <a:rPr lang="en-US" sz="3600" b="1" dirty="0" smtClean="0">
                <a:solidFill>
                  <a:srgbClr val="F5F9FF"/>
                </a:solidFill>
                <a:latin typeface="Algerian" panose="04020705040A02060702" pitchFamily="82" charset="0"/>
              </a:rPr>
              <a:t>LABOUR</a:t>
            </a:r>
            <a:r>
              <a:rPr lang="en-US" sz="3600" b="1" dirty="0" smtClean="0">
                <a:solidFill>
                  <a:srgbClr val="F5F9FF"/>
                </a:solidFill>
              </a:rPr>
              <a:t> 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>
                <a:solidFill>
                  <a:srgbClr val="F5F9FF"/>
                </a:solidFill>
              </a:rPr>
              <a:t>ප්‍රාග්ධනය</a:t>
            </a:r>
            <a:r>
              <a:rPr lang="en-US" sz="3600" b="1" dirty="0" smtClean="0">
                <a:solidFill>
                  <a:srgbClr val="F5F9FF"/>
                </a:solidFill>
              </a:rPr>
              <a:t> [ </a:t>
            </a:r>
            <a:r>
              <a:rPr lang="en-US" sz="3600" b="1" dirty="0" smtClean="0">
                <a:solidFill>
                  <a:srgbClr val="F5F9FF"/>
                </a:solidFill>
                <a:latin typeface="Algerian" panose="04020705040A02060702" pitchFamily="82" charset="0"/>
              </a:rPr>
              <a:t>CAPITAL</a:t>
            </a:r>
            <a:r>
              <a:rPr lang="en-US" sz="3600" b="1" dirty="0" smtClean="0">
                <a:solidFill>
                  <a:srgbClr val="F5F9FF"/>
                </a:solidFill>
              </a:rPr>
              <a:t> 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>
                <a:solidFill>
                  <a:srgbClr val="F5F9FF"/>
                </a:solidFill>
              </a:rPr>
              <a:t>ව්‍යවසාය හෙවත් කලමනාකරණය</a:t>
            </a:r>
            <a:r>
              <a:rPr lang="en-US" sz="3600" b="1" dirty="0" smtClean="0">
                <a:solidFill>
                  <a:srgbClr val="F5F9FF"/>
                </a:solidFill>
              </a:rPr>
              <a:t> [ </a:t>
            </a:r>
            <a:r>
              <a:rPr lang="en-US" sz="3600" b="1" dirty="0" smtClean="0">
                <a:solidFill>
                  <a:srgbClr val="F5F9FF"/>
                </a:solidFill>
                <a:latin typeface="Algerian" panose="04020705040A02060702" pitchFamily="82" charset="0"/>
              </a:rPr>
              <a:t>ENTERPRISE</a:t>
            </a:r>
            <a:r>
              <a:rPr lang="en-US" sz="3600" b="1" dirty="0" smtClean="0">
                <a:solidFill>
                  <a:srgbClr val="F5F9FF"/>
                </a:solidFill>
              </a:rPr>
              <a:t> ]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78042217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62533" y="5304"/>
            <a:ext cx="21900547" cy="70788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none">
            <a:spAutoFit/>
          </a:bodyPr>
          <a:lstStyle/>
          <a:p>
            <a:r>
              <a:rPr lang="si-LK" sz="4000" b="1" dirty="0">
                <a:solidFill>
                  <a:srgbClr val="F5F9FF"/>
                </a:solidFill>
              </a:rPr>
              <a:t> </a:t>
            </a:r>
            <a:r>
              <a:rPr lang="si-LK" sz="4000" b="1" dirty="0" smtClean="0">
                <a:solidFill>
                  <a:srgbClr val="F5F9FF"/>
                </a:solidFill>
              </a:rPr>
              <a:t>         භාණ්ඩ හා සේවා නිපදවීමට යෙදවුම් කිහිපයක් අවශ්‍ය වේ.                                                                         </a:t>
            </a:r>
            <a:endParaRPr lang="en-US" sz="4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7" y="1349828"/>
            <a:ext cx="1828800" cy="1219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57" y="2569028"/>
            <a:ext cx="1835604" cy="1409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34391" y="1480456"/>
            <a:ext cx="5878286" cy="64633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srgbClr val="F5F9FF"/>
                </a:solidFill>
              </a:rPr>
              <a:t>යන්ත්‍ර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9142" y="2862943"/>
            <a:ext cx="6847115" cy="64633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dirty="0" smtClean="0" b="1">
                <a:solidFill>
                  <a:srgbClr val="F5F9FF"/>
                </a:solidFill>
              </a:rPr>
              <a:t>මුදල්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7829" y="2340429"/>
            <a:ext cx="2188028" cy="36933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Vertical Scroll 12"/>
          <p:cNvSpPr/>
          <p:nvPr/>
        </p:nvSpPr>
        <p:spPr>
          <a:xfrm>
            <a:off x="6776357" y="1204907"/>
            <a:ext cx="4653644" cy="5547641"/>
          </a:xfrm>
          <a:prstGeom prst="verticalScroll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40484" y="1632191"/>
            <a:ext cx="2547257" cy="76944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4400" dirty="0" smtClean="0" b="1">
                <a:solidFill>
                  <a:srgbClr val="F5F9FF"/>
                </a:solidFill>
              </a:rPr>
              <a:t>යෙදවුම්</a:t>
            </a:r>
            <a:endParaRPr lang="en-US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01484" y="2254390"/>
            <a:ext cx="3086257" cy="353943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ද්‍රව්‍ය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ශ්‍රමය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යන්ත්‍ර\උපකරණ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මුදල්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තාක්ෂණික ක්‍රම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 b="1">
                <a:solidFill>
                  <a:srgbClr val="F5F9FF"/>
                </a:solidFill>
              </a:rPr>
              <a:t>වෙලදපොල තොරතුරු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90742033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58" y="158821"/>
            <a:ext cx="11908971" cy="175432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600" dirty="0" smtClean="0" b="1">
                <a:solidFill>
                  <a:srgbClr val="F5F9FF"/>
                </a:solidFill>
              </a:rPr>
              <a:t>මෙලෙස  මෙම සම්පත් අපේ අවශ්‍යතාවයට ගැලපෙන පරිදි ම සකස් කර ගැනීමට නිෂ්පාදන ක්‍රියාකාරකම් ගණනාවක් සිදුවෙයි. එම ක්‍රියාකාරකම් නිෂ්පාදන ක්‍රියාවලිය ලෙස හැඳින්වේ .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08858" y="1913147"/>
            <a:ext cx="5301342" cy="584775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200" dirty="0" smtClean="0" b="1">
                <a:solidFill>
                  <a:srgbClr val="F5F9FF"/>
                </a:solidFill>
              </a:rPr>
              <a:t>උදාහරණ</a:t>
            </a:r>
            <a:r>
              <a:rPr lang="en-US" sz="3200" dirty="0" b="1">
                <a:solidFill>
                  <a:srgbClr val="F5F9FF"/>
                </a:solidFill>
              </a:rP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328" y="1913146"/>
            <a:ext cx="7522029" cy="584775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200" dirty="0" smtClean="0" b="1">
                <a:solidFill>
                  <a:srgbClr val="F5F9FF"/>
                </a:solidFill>
              </a:rPr>
              <a:t>ඉදලක්  නිපදවීමේ ක්‍රියාවලිය </a:t>
            </a:r>
            <a:endParaRPr lang="en-US" sz="32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9086" y="3124200"/>
            <a:ext cx="555172" cy="2862322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isometricOffAxis1Right"/>
            <a:lightRig rig="threePt" dir="t"/>
          </a:scene3d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3600" dirty="0" smtClean="0" b="1">
                <a:solidFill>
                  <a:srgbClr val="F5F9FF"/>
                </a:solidFill>
              </a:rPr>
              <a:t>ක්‍රි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යා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ව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ලි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ය</a:t>
            </a:r>
            <a:endParaRPr lang="en-US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589314" y="4114800"/>
            <a:ext cx="1143000" cy="587829"/>
          </a:xfrm>
          <a:prstGeom prst="rightArrow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47256" y="2497921"/>
            <a:ext cx="6096000" cy="4401205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ලී මිට සකස් කිරීම.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ඉරටු සුද්ද කර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කපා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ලෝහ තහඩු කපා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 ලෝහ තහඩු අවශ්‍ය හැඩයට නවා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ලී මිටට ඉරටු සම්බන්ධ කිරීමට කම්බි ඇණ ගැසීම.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අවශ්‍ය ප්‍රමාණයට හා හැඩයට ඉදලේ ඉරටු කැපීම.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 b="1">
                <a:solidFill>
                  <a:srgbClr val="F5F9FF"/>
                </a:solidFill>
              </a:rPr>
              <a:t>ලෝහ තහඩු වලට තීන්ත  ආලේප කිරීම.</a:t>
            </a:r>
            <a:endParaRPr lang="si-LK" sz="2800" dirty="0"/>
          </a:p>
        </p:txBody>
      </p:sp>
    </p:spTree>
    <p:extLst>
      <p:ext uri="{BB962C8B-B14F-4D97-AF65-F5344CB8AC3E}">
        <p14:creationId xmlns:p14="http://schemas.microsoft.com/office/powerpoint/2010/main" val="2793754043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228" y="228600"/>
            <a:ext cx="10972800" cy="286232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 b="1">
                <a:solidFill>
                  <a:srgbClr val="F5F9FF"/>
                </a:solidFill>
              </a:rPr>
              <a:t>නිෂ්පාදන ක්‍රියාවලි නිසි පරිදි සැලසුම් කළ යුතුය.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 b="1">
                <a:solidFill>
                  <a:srgbClr val="F5F9FF"/>
                </a:solidFill>
              </a:rPr>
              <a:t> එමගින් සම්පත් නාස්ති වීම වළක්වයි.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 b="1">
                <a:solidFill>
                  <a:srgbClr val="F5F9FF"/>
                </a:solidFill>
              </a:rPr>
              <a:t>එමගින් අඩු පිරිවැයක් යටතේ ගුණාත්මක භාණ්ඩයක් නිපදවා ගත හැකියි.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 b="1">
                <a:solidFill>
                  <a:srgbClr val="F5F9FF"/>
                </a:solidFill>
              </a:rPr>
              <a:t>නිෂ්පාදන ක්‍රියාවලියෙන් පසුව බිහිවන ප්‍රතිඵලය නිමැවුම ලෙස හැඳින්වේ.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 b="1">
                <a:solidFill>
                  <a:srgbClr val="F5F9FF"/>
                </a:solidFill>
              </a:rPr>
              <a:t> උදාහරණයක් ලෙස   ඉදලේ නිෂ්පාදන ක්‍රියාවලියෙන් පසු ගෙමිදුල අතුගෑම සදහා භාවිත කළ හැකි උපකරණයක් නිර්මාණය කරගත හැකියි. 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44" y="3938460"/>
            <a:ext cx="2496947" cy="20084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286" y="3638550"/>
            <a:ext cx="740228" cy="2308324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si-LK" sz="3600" dirty="0" smtClean="0" b="1">
                <a:solidFill>
                  <a:srgbClr val="F5F9FF"/>
                </a:solidFill>
              </a:rPr>
              <a:t>නි</a:t>
            </a:r>
          </a:p>
          <a:p>
            <a:pPr algn="ctr"/>
            <a:r>
              <a:rPr lang="si-LK" sz="3600" dirty="0" smtClean="0" b="1">
                <a:solidFill>
                  <a:srgbClr val="F5F9FF"/>
                </a:solidFill>
              </a:rPr>
              <a:t>මැ</a:t>
            </a:r>
          </a:p>
          <a:p>
            <a:pPr algn="ctr"/>
            <a:r>
              <a:rPr lang="si-LK" sz="3600" dirty="0" smtClean="0" b="1">
                <a:solidFill>
                  <a:srgbClr val="F5F9FF"/>
                </a:solidFill>
              </a:rPr>
              <a:t>වු</a:t>
            </a:r>
          </a:p>
          <a:p>
            <a:pPr algn="ctr"/>
            <a:r>
              <a:rPr lang="si-LK" sz="3600" dirty="0" smtClean="0" b="1">
                <a:solidFill>
                  <a:srgbClr val="F5F9FF"/>
                </a:solidFill>
              </a:rPr>
              <a:t>ම</a:t>
            </a:r>
            <a:endParaRPr lang="en-US" sz="3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077686" y="4440287"/>
            <a:ext cx="1611086" cy="704850"/>
          </a:xfrm>
          <a:prstGeom prst="rightArrow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65372" y="3915549"/>
            <a:ext cx="6096000" cy="175432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si-LK" dirty="0" smtClean="0">
                <a:solidFill>
                  <a:srgbClr val="F5F9FF"/>
                </a:solidFill>
              </a:rPr>
              <a:t> </a:t>
            </a:r>
            <a:r>
              <a:rPr lang="si-LK" sz="3600" dirty="0" smtClean="0" b="1">
                <a:solidFill>
                  <a:srgbClr val="F5F9FF"/>
                </a:solidFill>
              </a:rPr>
              <a:t>යෙදවුම් නිමවුමක් බවට පත් කිරීමේ ක්‍රියාකාරකම් ගණනාවක් ඇති බව පැහැදිලි වේ.</a:t>
            </a:r>
            <a:endParaRPr lang="en-US" sz="36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147883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572" y="134035"/>
            <a:ext cx="11898085" cy="10772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i-LK" sz="3200" dirty="0" smtClean="0" b="1">
                <a:solidFill>
                  <a:srgbClr val="F5F9FF"/>
                </a:solidFill>
              </a:rPr>
              <a:t>යෙදවුම්, නිෂ්පාදන ක්‍රියාවලිය හා නිමැවුම අතර ඇති සම්බන්ධතාව පහත සටහන තුළින් තවදුරටත් අවබෝධ කර ගත හැකියි.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239486" y="1416612"/>
            <a:ext cx="2286000" cy="783771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 b="1">
                <a:solidFill>
                  <a:srgbClr val="F5F9FF"/>
                </a:solidFill>
              </a:rPr>
              <a:t>යෙදවුම</a:t>
            </a:r>
            <a:endParaRPr lang="en-US" sz="2800" dirty="0"/>
          </a:p>
        </p:txBody>
      </p:sp>
      <p:sp>
        <p:nvSpPr>
          <p:cNvPr id="4" name="Wave 3"/>
          <p:cNvSpPr/>
          <p:nvPr/>
        </p:nvSpPr>
        <p:spPr>
          <a:xfrm>
            <a:off x="4479471" y="1035611"/>
            <a:ext cx="2819400" cy="1545772"/>
          </a:xfrm>
          <a:prstGeom prst="wave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 b="1">
                <a:solidFill>
                  <a:srgbClr val="F5F9FF"/>
                </a:solidFill>
              </a:rPr>
              <a:t>නිෂ්පාදන  ක්‍රියාවලිය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79429" y="1416612"/>
            <a:ext cx="2351314" cy="1164771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 b="1">
                <a:solidFill>
                  <a:srgbClr val="F5F9FF"/>
                </a:solidFill>
              </a:rPr>
              <a:t>නිමැවුම</a:t>
            </a:r>
            <a:endParaRPr lang="en-US" sz="2800" dirty="0"/>
          </a:p>
        </p:txBody>
      </p:sp>
      <p:sp>
        <p:nvSpPr>
          <p:cNvPr id="6" name="Right Arrow 5"/>
          <p:cNvSpPr/>
          <p:nvPr/>
        </p:nvSpPr>
        <p:spPr>
          <a:xfrm>
            <a:off x="3015343" y="1643743"/>
            <a:ext cx="1132114" cy="446314"/>
          </a:xfrm>
          <a:prstGeom prst="rightArrow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728857" y="1643743"/>
            <a:ext cx="1436914" cy="556640"/>
          </a:xfrm>
          <a:prstGeom prst="rightArrow">
            <a:avLst/>
          </a:prstGeom>
          <a:ln w="19050">
            <a:solidFill>
              <a:srgbClr val="C8E6FF">
                <a:alpha val="52000"/>
              </a:srgbClr>
            </a:solidFill>
          </a:ln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9486" y="2200383"/>
            <a:ext cx="2405743" cy="4401205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ඉරටු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ලී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ලෝහ තහඩු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කම්බි ඇණ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යන්ත්‍ර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මුදල්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ශ්‍රමය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තාක්ෂණය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තොරතුරු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කාලය</a:t>
            </a:r>
            <a:endParaRPr lang="si-LK" sz="2800" dirty="0"/>
          </a:p>
        </p:txBody>
      </p:sp>
      <p:sp>
        <p:nvSpPr>
          <p:cNvPr id="10" name="Right Brace 9"/>
          <p:cNvSpPr/>
          <p:nvPr/>
        </p:nvSpPr>
        <p:spPr>
          <a:xfrm>
            <a:off x="2525486" y="2311662"/>
            <a:ext cx="1439635" cy="4178646"/>
          </a:xfrm>
          <a:prstGeom prst="rightBrace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56314" y="2632873"/>
            <a:ext cx="3614057" cy="4247317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ලී මිට සකස් කිරීම.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ඉරටු සුද්ද කිරීම.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ලෝහ තහඩු කැපීම.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තහඩු නැවීම.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ඇණ ගැසීම.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අවශ්‍ය ප්‍රමාණයට ඉරටු කැපීම.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 b="1">
                <a:solidFill>
                  <a:srgbClr val="F5F9FF"/>
                </a:solidFill>
              </a:rPr>
              <a:t>ගුණාත්මක තත්ත්වය පාලනය.</a:t>
            </a:r>
          </a:p>
          <a:p>
            <a:endParaRPr lang="si-LK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772" y="3133852"/>
            <a:ext cx="2612572" cy="30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65120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ular Callout 2"/>
          <p:cNvSpPr/>
          <p:nvPr/>
        </p:nvSpPr>
        <p:spPr>
          <a:xfrm>
            <a:off x="1589316" y="1360715"/>
            <a:ext cx="8436429" cy="3450770"/>
          </a:xfrm>
          <a:prstGeom prst="wedgeRoundRectCallou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27000" dist="38100" dir="2700000" algn="ctr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  <a:solidFill>
            <a:srgbClr val="3769A5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400" b="1" dirty="0" smtClean="0">
                <a:solidFill>
                  <a:srgbClr val="F5F9FF"/>
                </a:solidFill>
              </a:rPr>
              <a:t>ද්‍රව්‍ය හා ශ්‍රමය පදනම් කරගෙන භාණ්ඩයක නිෂ්පාදන වියදම ගණනය</a:t>
            </a:r>
            <a:r>
              <a:rPr lang="en-US" sz="4400" b="1" dirty="0" smtClean="0">
                <a:solidFill>
                  <a:srgbClr val="F5F9FF"/>
                </a:solidFill>
              </a:rPr>
              <a:t> </a:t>
            </a:r>
          </a:p>
          <a:p>
            <a:pPr algn="ctr"/>
            <a:r>
              <a:rPr lang="si-LK" sz="4400" b="1" dirty="0" smtClean="0">
                <a:solidFill>
                  <a:srgbClr val="F5F9FF"/>
                </a:solidFill>
              </a:rPr>
              <a:t>කරමු</a:t>
            </a:r>
            <a:r>
              <a:rPr lang="en-US" sz="4000" dirty="0" smtClean="0" b="1">
                <a:solidFill>
                  <a:srgbClr val="F5F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458405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drumroll.wav"/>
          </p:stSnd>
        </p:sndAc>
      </p:transition>
    </mc:Choice>
    <mc:Fallback>
      <p:transition spd="slow">
        <p:fade/>
        <p:sndAc>
          <p:stSnd>
            <p:snd r:embed="rId2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1" y="555172"/>
            <a:ext cx="10570029" cy="550920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>
                <a:solidFill>
                  <a:srgbClr val="F5F9FF"/>
                </a:solidFill>
              </a:rPr>
              <a:t>සෑම භාණ්ඩායකම නිපදවීමට විවිධ අමුද්‍රව්‍ය අවශ්‍ය වේ.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>
                <a:solidFill>
                  <a:srgbClr val="F5F9FF"/>
                </a:solidFill>
              </a:rPr>
              <a:t>ඒවායෙන් භාණ්ඩයක් මිනිස් ශ්‍රමය අවශ්‍යවේ.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>
                <a:solidFill>
                  <a:srgbClr val="F5F9FF"/>
                </a:solidFill>
              </a:rPr>
              <a:t>මෙම ද්‍රව්‍ය මිල දී ගැනීමට ගෙවන මුදල ද්‍රව්‍ය වියදමයි.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>
                <a:solidFill>
                  <a:srgbClr val="F5F9FF"/>
                </a:solidFill>
              </a:rPr>
              <a:t>නිෂ්පාදන ක්‍රියාවලියේ යෙදී සිටින අය ශ්‍රමිකයන් ය.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>
                <a:solidFill>
                  <a:srgbClr val="F5F9FF"/>
                </a:solidFill>
              </a:rPr>
              <a:t>ඔවුන්ට ලබෙන මුදල් වැටුප් ලෙස හදුන්වයි.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101382004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3" name="chimes.wav"/>
          </p:stSnd>
        </p:sndAc>
      </p:transition>
    </mc:Choice>
    <mc:Fallback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2056" y="402772"/>
            <a:ext cx="6923315" cy="144655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i-LK" sz="4400" b="1" dirty="0" smtClean="0">
                <a:solidFill>
                  <a:srgbClr val="F5F9FF"/>
                </a:solidFill>
              </a:rPr>
              <a:t>නිශ්පාදන</a:t>
            </a:r>
            <a:r>
              <a:rPr lang="en-US" sz="4400" b="1" dirty="0" smtClean="0">
                <a:solidFill>
                  <a:srgbClr val="F5F9FF"/>
                </a:solidFill>
              </a:rPr>
              <a:t> </a:t>
            </a:r>
            <a:r>
              <a:rPr lang="si-LK" sz="4400" b="1" dirty="0" smtClean="0">
                <a:solidFill>
                  <a:srgbClr val="F5F9FF"/>
                </a:solidFill>
              </a:rPr>
              <a:t>වියදම ගණනය කර. බලමු</a:t>
            </a:r>
            <a:r>
              <a:rPr lang="en-US" sz="4400" b="1" dirty="0" smtClean="0">
                <a:solidFill>
                  <a:srgbClr val="F5F9FF"/>
                </a:solidFill>
              </a:rPr>
              <a:t>.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175111"/>
            <a:ext cx="6955971" cy="646331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dirty="0" smtClean="0" b="1">
                <a:solidFill>
                  <a:srgbClr val="F5F9FF"/>
                </a:solidFill>
              </a:rPr>
              <a:t>උදාහරණ‍යක් ලෙස</a:t>
            </a:r>
            <a:r>
              <a:rPr lang="en-US" sz="3600" dirty="0" smtClean="0" b="1">
                <a:solidFill>
                  <a:srgbClr val="F5F9FF"/>
                </a:solidFill>
              </a:rPr>
              <a:t>-</a:t>
            </a:r>
            <a:r>
              <a:rPr lang="si-LK" sz="3600" dirty="0" smtClean="0" b="1">
                <a:solidFill>
                  <a:srgbClr val="F5F9FF"/>
                </a:solidFill>
              </a:rPr>
              <a:t> 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011385" y="2175111"/>
            <a:ext cx="6531429" cy="1077218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i-LK" sz="3200" dirty="0" smtClean="0" b="1">
                <a:solidFill>
                  <a:srgbClr val="F5F9FF"/>
                </a:solidFill>
              </a:rPr>
              <a:t>පුද්ගලයකුට ඉදල් දහයක් නිපදවීමට අවශ්‍ය ද්‍රව්‍ය සහ මිල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1999" y="3709997"/>
            <a:ext cx="10439400" cy="3862596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500" dirty="0" smtClean="0" b="1">
                <a:solidFill>
                  <a:srgbClr val="F5F9FF"/>
                </a:solidFill>
              </a:rPr>
              <a:t>ඉරටු මිටි      </a:t>
            </a:r>
            <a:r>
              <a:rPr lang="en-US" sz="3500" dirty="0" smtClean="0" b="1">
                <a:solidFill>
                  <a:srgbClr val="F5F9FF"/>
                </a:solidFill>
              </a:rPr>
              <a:t>  </a:t>
            </a:r>
            <a:r>
              <a:rPr lang="si-LK" sz="3500" dirty="0" smtClean="0" b="1">
                <a:solidFill>
                  <a:srgbClr val="F5F9FF"/>
                </a:solidFill>
              </a:rPr>
              <a:t>10   </a:t>
            </a:r>
            <a:r>
              <a:rPr lang="en-US" sz="3500" dirty="0" smtClean="0" b="1">
                <a:solidFill>
                  <a:srgbClr val="F5F9FF"/>
                </a:solidFill>
              </a:rPr>
              <a:t>-</a:t>
            </a:r>
            <a:r>
              <a:rPr lang="si-LK" sz="3500" dirty="0" smtClean="0" b="1">
                <a:solidFill>
                  <a:srgbClr val="F5F9FF"/>
                </a:solidFill>
              </a:rPr>
              <a:t>           එක ඉරටු මිටක්            රු.20.00</a:t>
            </a:r>
          </a:p>
          <a:p>
            <a:r>
              <a:rPr lang="si-LK" sz="3500" dirty="0" smtClean="0" b="1">
                <a:solidFill>
                  <a:srgbClr val="F5F9FF"/>
                </a:solidFill>
              </a:rPr>
              <a:t>ලී මිටි         </a:t>
            </a:r>
            <a:r>
              <a:rPr lang="en-US" sz="3500" dirty="0" smtClean="0" b="1">
                <a:solidFill>
                  <a:srgbClr val="F5F9FF"/>
                </a:solidFill>
              </a:rPr>
              <a:t>   </a:t>
            </a:r>
            <a:r>
              <a:rPr lang="si-LK" sz="3500" dirty="0" smtClean="0" b="1">
                <a:solidFill>
                  <a:srgbClr val="F5F9FF"/>
                </a:solidFill>
              </a:rPr>
              <a:t>10   </a:t>
            </a:r>
            <a:r>
              <a:rPr lang="en-US" sz="3500" dirty="0" smtClean="0" b="1">
                <a:solidFill>
                  <a:srgbClr val="F5F9FF"/>
                </a:solidFill>
              </a:rPr>
              <a:t>-</a:t>
            </a:r>
            <a:r>
              <a:rPr lang="si-LK" sz="3500" dirty="0" smtClean="0" b="1">
                <a:solidFill>
                  <a:srgbClr val="F5F9FF"/>
                </a:solidFill>
              </a:rPr>
              <a:t>             එක ලී මිටක්              රු.15.00</a:t>
            </a:r>
          </a:p>
          <a:p>
            <a:r>
              <a:rPr lang="si-LK" sz="3500" dirty="0" smtClean="0" b="1">
                <a:solidFill>
                  <a:srgbClr val="F5F9FF"/>
                </a:solidFill>
              </a:rPr>
              <a:t>ලෝහ තහඩු  </a:t>
            </a:r>
            <a:r>
              <a:rPr lang="en-US" sz="3500" dirty="0" smtClean="0" b="1">
                <a:solidFill>
                  <a:srgbClr val="F5F9FF"/>
                </a:solidFill>
              </a:rPr>
              <a:t> </a:t>
            </a:r>
            <a:r>
              <a:rPr lang="si-LK" sz="3500" dirty="0" smtClean="0" b="1">
                <a:solidFill>
                  <a:srgbClr val="F5F9FF"/>
                </a:solidFill>
              </a:rPr>
              <a:t>10  </a:t>
            </a:r>
            <a:r>
              <a:rPr lang="en-US" sz="3500" dirty="0" smtClean="0" b="1">
                <a:solidFill>
                  <a:srgbClr val="F5F9FF"/>
                </a:solidFill>
              </a:rPr>
              <a:t>-</a:t>
            </a:r>
            <a:r>
              <a:rPr lang="si-LK" sz="3500" dirty="0" smtClean="0" b="1">
                <a:solidFill>
                  <a:srgbClr val="F5F9FF"/>
                </a:solidFill>
              </a:rPr>
              <a:t>          එක ලෝහ කැබැල්ලක්</a:t>
            </a:r>
            <a:r>
              <a:rPr lang="en-US" sz="3500" dirty="0" smtClean="0" b="1">
                <a:solidFill>
                  <a:srgbClr val="F5F9FF"/>
                </a:solidFill>
              </a:rPr>
              <a:t> </a:t>
            </a:r>
            <a:r>
              <a:rPr lang="si-LK" sz="3500" dirty="0" smtClean="0" b="1">
                <a:solidFill>
                  <a:srgbClr val="F5F9FF"/>
                </a:solidFill>
              </a:rPr>
              <a:t> රු.50.00</a:t>
            </a:r>
          </a:p>
          <a:p>
            <a:r>
              <a:rPr lang="si-LK" sz="3500" dirty="0" smtClean="0" b="1">
                <a:solidFill>
                  <a:srgbClr val="F5F9FF"/>
                </a:solidFill>
              </a:rPr>
              <a:t> කම්බි ඇණ 250</a:t>
            </a:r>
            <a:r>
              <a:rPr lang="en-US" sz="3500" dirty="0" b="1">
                <a:solidFill>
                  <a:srgbClr val="F5F9FF"/>
                </a:solidFill>
              </a:rPr>
              <a:t>g</a:t>
            </a:r>
            <a:r>
              <a:rPr lang="si-LK" sz="3500" dirty="0" smtClean="0" b="1">
                <a:solidFill>
                  <a:srgbClr val="F5F9FF"/>
                </a:solidFill>
              </a:rPr>
              <a:t>  ක වියදම </a:t>
            </a:r>
            <a:r>
              <a:rPr lang="en-US" sz="3500" dirty="0" smtClean="0" b="1">
                <a:solidFill>
                  <a:srgbClr val="F5F9FF"/>
                </a:solidFill>
              </a:rPr>
              <a:t>-</a:t>
            </a:r>
            <a:r>
              <a:rPr lang="si-LK" sz="3500" dirty="0" smtClean="0" b="1">
                <a:solidFill>
                  <a:srgbClr val="F5F9FF"/>
                </a:solidFill>
              </a:rPr>
              <a:t>                                 රු.75.00 </a:t>
            </a:r>
          </a:p>
          <a:p>
            <a:r>
              <a:rPr lang="si-LK" sz="3500" dirty="0" smtClean="0" b="1">
                <a:solidFill>
                  <a:srgbClr val="F5F9FF"/>
                </a:solidFill>
              </a:rPr>
              <a:t>සේවක වැටුප                     </a:t>
            </a:r>
            <a:r>
              <a:rPr lang="en-US" sz="3500" dirty="0" smtClean="0" b="1">
                <a:solidFill>
                  <a:srgbClr val="F5F9FF"/>
                </a:solidFill>
              </a:rPr>
              <a:t>-</a:t>
            </a:r>
            <a:r>
              <a:rPr lang="si-LK" sz="3500" dirty="0" smtClean="0" b="1">
                <a:solidFill>
                  <a:srgbClr val="F5F9FF"/>
                </a:solidFill>
              </a:rPr>
              <a:t>                           </a:t>
            </a:r>
            <a:r>
              <a:rPr lang="en-US" sz="3500" dirty="0" smtClean="0" b="1">
                <a:solidFill>
                  <a:srgbClr val="F5F9FF"/>
                </a:solidFill>
              </a:rPr>
              <a:t>     </a:t>
            </a:r>
            <a:r>
              <a:rPr lang="si-LK" sz="3500" dirty="0" smtClean="0" b="1">
                <a:solidFill>
                  <a:srgbClr val="F5F9FF"/>
                </a:solidFill>
              </a:rPr>
              <a:t> රු.30.00</a:t>
            </a:r>
          </a:p>
          <a:p>
            <a:r>
              <a:rPr lang="si-LK" sz="3500" dirty="0" smtClean="0" b="1">
                <a:solidFill>
                  <a:srgbClr val="F5F9FF"/>
                </a:solidFill>
              </a:rPr>
              <a:t>    </a:t>
            </a:r>
            <a:r>
              <a:rPr lang="en-US" sz="3500" dirty="0" smtClean="0" b="1">
                <a:solidFill>
                  <a:srgbClr val="F5F9FF"/>
                </a:solidFill>
              </a:rPr>
              <a:t>                              </a:t>
            </a:r>
            <a:endParaRPr lang="si-LK" sz="3500" dirty="0" smtClean="0"/>
          </a:p>
          <a:p>
            <a:endParaRPr lang="si-LK" sz="3500" dirty="0"/>
          </a:p>
        </p:txBody>
      </p:sp>
    </p:spTree>
    <p:extLst>
      <p:ext uri="{BB962C8B-B14F-4D97-AF65-F5344CB8AC3E}">
        <p14:creationId xmlns:p14="http://schemas.microsoft.com/office/powerpoint/2010/main" val="2638792549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0800000" flipH="1" flipV="1">
            <a:off x="598714" y="-139283"/>
            <a:ext cx="11821885" cy="646331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3600" dirty="0" smtClean="0" b="1">
                <a:solidFill>
                  <a:srgbClr val="F5F9FF"/>
                </a:solidFill>
              </a:rPr>
              <a:t>නිෂ්පාදන වියදම ගණනය කරන ආකාරය පහත වගුවෙන් දැක්වේ</a:t>
            </a:r>
            <a:r>
              <a:rPr lang="si-LK" sz="3600" dirty="0" smtClean="0" b="1">
                <a:solidFill>
                  <a:srgbClr val="F5F9FF"/>
                </a:solidFill>
              </a:rPr>
              <a:t>.</a:t>
            </a:r>
            <a:endParaRPr lang="en-US" sz="3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22427"/>
              </p:ext>
            </p:extLst>
          </p:nvPr>
        </p:nvGraphicFramePr>
        <p:xfrm>
          <a:off x="2032000" y="1052421"/>
          <a:ext cx="812800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876230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  </a:t>
                      </a:r>
                      <a:r>
                        <a:rPr lang="si-LK" sz="4000" dirty="0" smtClean="0"/>
                        <a:t>සම්පත්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</a:t>
                      </a:r>
                      <a:r>
                        <a:rPr lang="si-LK" sz="3200" dirty="0" smtClean="0"/>
                        <a:t>මිල</a:t>
                      </a:r>
                    </a:p>
                    <a:p>
                      <a:r>
                        <a:rPr lang="en-US" sz="3200" dirty="0" smtClean="0"/>
                        <a:t>    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si-LK" sz="3200" dirty="0" smtClean="0"/>
                        <a:t>රු.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400" b="0" dirty="0" smtClean="0"/>
                        <a:t>භාවිතා කල </a:t>
                      </a:r>
                      <a:r>
                        <a:rPr lang="en-US" sz="2400" b="0" dirty="0" smtClean="0"/>
                        <a:t>            </a:t>
                      </a:r>
                      <a:r>
                        <a:rPr lang="si-LK" sz="2400" b="0" dirty="0" smtClean="0"/>
                        <a:t>සම්පත් </a:t>
                      </a:r>
                      <a:r>
                        <a:rPr lang="en-US" sz="2400" b="0" dirty="0" smtClean="0"/>
                        <a:t>    </a:t>
                      </a:r>
                      <a:r>
                        <a:rPr lang="si-LK" sz="2400" b="0" dirty="0" smtClean="0"/>
                        <a:t>ප්‍රමාණය </a:t>
                      </a:r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300" dirty="0" smtClean="0"/>
                        <a:t>ඇස්තමේන්තු කල වියදම</a:t>
                      </a:r>
                      <a:endParaRPr lang="en-US" sz="2300" dirty="0" smtClean="0"/>
                    </a:p>
                    <a:p>
                      <a:r>
                        <a:rPr lang="en-US" sz="2300" dirty="0" smtClean="0"/>
                        <a:t>[</a:t>
                      </a:r>
                      <a:r>
                        <a:rPr lang="si-LK" sz="2400" baseline="0" dirty="0" smtClean="0"/>
                        <a:t>රු.</a:t>
                      </a:r>
                      <a:r>
                        <a:rPr lang="en-US" sz="2400" baseline="0" dirty="0" smtClean="0"/>
                        <a:t>]</a:t>
                      </a:r>
                      <a:endParaRPr lang="si-LK" sz="2400" baseline="0" dirty="0" smtClean="0"/>
                    </a:p>
                    <a:p>
                      <a:endParaRPr lang="en-US" sz="23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3200" dirty="0" smtClean="0"/>
                        <a:t>ඉරටු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20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</a:t>
                      </a:r>
                      <a:r>
                        <a:rPr lang="si-LK" sz="2800" dirty="0" smtClean="0"/>
                        <a:t>මිටි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200.00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ලී මිටි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</a:t>
                      </a:r>
                      <a:r>
                        <a:rPr lang="en-US" baseline="0" dirty="0" smtClean="0"/>
                        <a:t>  </a:t>
                      </a:r>
                      <a:r>
                        <a:rPr lang="en-US" sz="3200" dirty="0" smtClean="0"/>
                        <a:t>15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si-LK" sz="2800" dirty="0" smtClean="0"/>
                        <a:t>මිටි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150.00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ලෝහ තහඩු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</a:t>
                      </a:r>
                      <a:r>
                        <a:rPr lang="en-US" sz="3200" dirty="0" smtClean="0"/>
                        <a:t> 50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</a:t>
                      </a:r>
                      <a:r>
                        <a:rPr lang="si-LK" sz="2800" dirty="0" smtClean="0"/>
                        <a:t>කෑලි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50.00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යකඩ ඇණ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</a:t>
                      </a:r>
                      <a:r>
                        <a:rPr lang="en-US" sz="3200" dirty="0" smtClean="0"/>
                        <a:t>75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250 </a:t>
                      </a:r>
                      <a:r>
                        <a:rPr lang="en-US" sz="3200" dirty="0" smtClean="0"/>
                        <a:t>g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  75.00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ශ්‍රමය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30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</a:t>
                      </a:r>
                      <a:r>
                        <a:rPr lang="si-LK" sz="2400" dirty="0" smtClean="0"/>
                        <a:t>ඉදල් 10 සදහා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300.00</a:t>
                      </a:r>
                      <a:endParaRPr lang="en-US" sz="2800" dirty="0"/>
                    </a:p>
                  </a:txBody>
                  <a:tcPr/>
                </a:tc>
              </a:tr>
              <a:tr h="390007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ඉදල් 10 ක්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ද්‍රව්‍ය හා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ශ්‍රම වියදම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775.00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312237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8943" y="1349829"/>
            <a:ext cx="9895114" cy="2862322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dirty="0" smtClean="0" b="1">
                <a:solidFill>
                  <a:srgbClr val="F5F9FF"/>
                </a:solidFill>
              </a:rPr>
              <a:t>ඉතලන ද්‍රව්‍ය හා ශ්‍රම වියදම = මුළු ද්‍රව්‍ය හා ශ්‍රම ප්‍රමාණය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                                 </a:t>
            </a:r>
            <a:r>
              <a:rPr lang="en-US" sz="3600" dirty="0" smtClean="0" b="1">
                <a:solidFill>
                  <a:srgbClr val="F5F9FF"/>
                </a:solidFill>
              </a:rPr>
              <a:t>           </a:t>
            </a:r>
            <a:r>
              <a:rPr lang="si-LK" sz="3600" dirty="0" smtClean="0" b="1">
                <a:solidFill>
                  <a:srgbClr val="F5F9FF"/>
                </a:solidFill>
              </a:rPr>
              <a:t> නිෂ්පාදන ඒකක ගණන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                              </a:t>
            </a:r>
            <a:r>
              <a:rPr lang="en-US" sz="3600" dirty="0" smtClean="0" b="1">
                <a:solidFill>
                  <a:srgbClr val="F5F9FF"/>
                </a:solidFill>
              </a:rPr>
              <a:t>          </a:t>
            </a:r>
            <a:r>
              <a:rPr lang="si-LK" sz="3600" dirty="0" smtClean="0" b="1">
                <a:solidFill>
                  <a:srgbClr val="F5F9FF"/>
                </a:solidFill>
              </a:rPr>
              <a:t> = රු.775.00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                                     </a:t>
            </a:r>
            <a:r>
              <a:rPr lang="en-US" sz="3600" dirty="0" smtClean="0" b="1">
                <a:solidFill>
                  <a:srgbClr val="F5F9FF"/>
                </a:solidFill>
              </a:rPr>
              <a:t>            </a:t>
            </a:r>
            <a:r>
              <a:rPr lang="si-LK" sz="3600" dirty="0" smtClean="0" b="1">
                <a:solidFill>
                  <a:srgbClr val="F5F9FF"/>
                </a:solidFill>
              </a:rPr>
              <a:t>  10</a:t>
            </a:r>
          </a:p>
          <a:p>
            <a:r>
              <a:rPr lang="si-LK" sz="3600" dirty="0" smtClean="0" b="1">
                <a:solidFill>
                  <a:srgbClr val="F5F9FF"/>
                </a:solidFill>
              </a:rPr>
              <a:t>                            </a:t>
            </a:r>
            <a:r>
              <a:rPr lang="en-US" sz="3600" dirty="0" smtClean="0" b="1">
                <a:solidFill>
                  <a:srgbClr val="F5F9FF"/>
                </a:solidFill>
              </a:rPr>
              <a:t>          </a:t>
            </a:r>
            <a:r>
              <a:rPr lang="si-LK" sz="3600" dirty="0" smtClean="0" b="1">
                <a:solidFill>
                  <a:srgbClr val="F5F9FF"/>
                </a:solidFill>
              </a:rPr>
              <a:t>   = රු.77.50 - ඉදලක මිල</a:t>
            </a:r>
            <a:endParaRPr lang="en-US" sz="3600" dirty="0"/>
          </a:p>
        </p:txBody>
      </p:sp>
      <p:sp>
        <p:nvSpPr>
          <p:cNvPr id="4" name="Minus 3"/>
          <p:cNvSpPr/>
          <p:nvPr/>
        </p:nvSpPr>
        <p:spPr>
          <a:xfrm>
            <a:off x="5780314" y="1905000"/>
            <a:ext cx="5921829" cy="141514"/>
          </a:xfrm>
          <a:prstGeom prst="mathMinus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inus 4"/>
          <p:cNvSpPr/>
          <p:nvPr/>
        </p:nvSpPr>
        <p:spPr>
          <a:xfrm>
            <a:off x="6585857" y="2906486"/>
            <a:ext cx="2100943" cy="195943"/>
          </a:xfrm>
          <a:prstGeom prst="mathMinus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43643"/>
      </p:ext>
    </p:extLst>
    <p:bgPr>
      <a:solidFill>
        <a:srgbClr val="09122D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943" y="1772253"/>
            <a:ext cx="7260772" cy="2800767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 b="1">
                <a:solidFill>
                  <a:srgbClr val="F5F9FF"/>
                </a:solidFill>
                <a:latin typeface="Imprint MT Shadow" panose="04020605060303030202" pitchFamily="82" charset="0"/>
              </a:rPr>
              <a:t>THANK YOU</a:t>
            </a:r>
            <a:endParaRPr lang="en-US" sz="8800" dirty="0">
              <a:latin typeface="Imprint MT Shadow" panose="040206050603030302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26929" y="1784198"/>
            <a:ext cx="2868386" cy="523220"/>
          </a:xfrm>
          <a:prstGeom prst="rect">
            <a:avLst/>
          </a:prstGeom>
          <a:ln w="19050">
            <a:solidFill>
              <a:srgbClr val="C8E6FF">
                <a:alpha val="52000"/>
              </a:srgb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olidFill>
            <a:srgbClr val="3769A5">
              <a:alpha val="23000"/>
            </a:srgbClr>
          </a:solidFill>
        </p:spPr>
        <p:txBody>
          <a:bodyPr wrap="square" rtlCol="0">
            <a:spAutoFit/>
          </a:bodyPr>
          <a:lstStyle/>
          <a:p>
            <a:r>
              <a:rPr lang="si-LK" sz="2800" dirty="0" smtClean="0" b="1">
                <a:solidFill>
                  <a:srgbClr val="F5F9FF"/>
                </a:solidFill>
              </a:rPr>
              <a:t>සැකැස්ම</a:t>
            </a:r>
            <a:r>
              <a:rPr lang="en-US" sz="2800" dirty="0" smtClean="0" b="1">
                <a:solidFill>
                  <a:srgbClr val="F5F9FF"/>
                </a:solidFill>
              </a:rPr>
              <a:t>  -</a:t>
            </a:r>
            <a:r>
              <a:rPr lang="en-US" sz="2800" dirty="0" b="1">
                <a:solidFill>
                  <a:srgbClr val="F5F9FF"/>
                </a:solidFill>
              </a:rPr>
              <a:t> </a:t>
            </a:r>
            <a:r>
              <a:rPr lang="en-US" sz="2800" b="1" dirty="0" err="1" smtClean="0">
                <a:solidFill>
                  <a:srgbClr val="F5F9FF"/>
                </a:solidFill>
              </a:rPr>
              <a:t>Pahan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534400" y="2569028"/>
            <a:ext cx="2743200" cy="523220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si-LK" sz="2800" dirty="0" smtClean="0" b="1">
                <a:solidFill>
                  <a:srgbClr val="F5F9FF"/>
                </a:solidFill>
              </a:rPr>
              <a:t>කරුණු ගොනුව - 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8626928" y="3092248"/>
            <a:ext cx="2558143" cy="3108543"/>
          </a:xfrm>
          <a:prstGeom prst="rect">
            <a:avLst/>
          </a:prstGeom>
          <a:solidFill>
            <a:srgbClr val="3769A5">
              <a:alpha val="23000"/>
            </a:srgbClr>
          </a:solidFill>
          <a:ln w="19050">
            <a:solidFill>
              <a:srgbClr val="C8E6FF">
                <a:alpha val="52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 smtClean="0" b="1">
                <a:solidFill>
                  <a:srgbClr val="F5F9FF"/>
                </a:solidFill>
              </a:rPr>
              <a:t>Shanul</a:t>
            </a:r>
            <a:r>
              <a:rPr lang="en-US" sz="2800" dirty="0" smtClean="0" b="1">
                <a:solidFill>
                  <a:srgbClr val="F5F9FF"/>
                </a:solidFill>
              </a:rPr>
              <a:t> </a:t>
            </a:r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Wosandha</a:t>
            </a:r>
            <a:endParaRPr lang="en-US" sz="2800" dirty="0" smtClean="0"/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Sandinu</a:t>
            </a:r>
            <a:endParaRPr lang="en-US" sz="2800" dirty="0" smtClean="0"/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Matheesha</a:t>
            </a:r>
            <a:endParaRPr lang="en-US" sz="2800" dirty="0" smtClean="0"/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Desitha</a:t>
            </a:r>
            <a:r>
              <a:rPr lang="en-US" sz="2800" dirty="0" smtClean="0" b="1">
                <a:solidFill>
                  <a:srgbClr val="F5F9FF"/>
                </a:solidFill>
              </a:rPr>
              <a:t> </a:t>
            </a:r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Sasiru</a:t>
            </a:r>
            <a:endParaRPr lang="en-US" sz="2800" dirty="0" smtClean="0"/>
          </a:p>
          <a:p>
            <a:r>
              <a:rPr lang="en-US" sz="2800" dirty="0" err="1" smtClean="0" b="1">
                <a:solidFill>
                  <a:srgbClr val="F5F9FF"/>
                </a:solidFill>
              </a:rPr>
              <a:t>Maleesha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4298846"/>
      </p:ext>
    </p:extLst>
    <p:bgPr>
      <a:solidFill>
        <a:srgbClr val="0C193A"/>
      </a:solidFill>
      <a:effectLst/>
    </p:bgPr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/Relationships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/Relationships>
</file>

<file path=ppt/theme/_rels/them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/Relationships>
</file>

<file path=ppt/theme/_rels/them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/Relationships>
</file>

<file path=ppt/theme/_rels/them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7.jpeg"/></Relationships>
</file>

<file path=ppt/theme/_rels/them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/Relationships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5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6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7.xml><?xml version="1.0" encoding="utf-8"?>
<a:theme xmlns:a="http://schemas.openxmlformats.org/drawingml/2006/main" name="2_Slice">
  <a:themeElements>
    <a:clrScheme name="Slice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8.xml><?xml version="1.0" encoding="utf-8"?>
<a:theme xmlns:a="http://schemas.openxmlformats.org/drawingml/2006/main" name="3_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9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10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11.xml><?xml version="1.0" encoding="utf-8"?>
<a:theme xmlns:a="http://schemas.openxmlformats.org/drawingml/2006/main" name="1_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12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13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14.xml><?xml version="1.0" encoding="utf-8"?>
<a:theme xmlns:a="http://schemas.openxmlformats.org/drawingml/2006/main" name="4_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15.xml><?xml version="1.0" encoding="utf-8"?>
<a:theme xmlns:a="http://schemas.openxmlformats.org/drawingml/2006/main" name="2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1348</TotalTime>
  <Words>6189</Words>
  <Application>Microsoft Office PowerPoint</Application>
  <PresentationFormat>Widescreen</PresentationFormat>
  <Paragraphs>222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34</vt:i4>
      </vt:variant>
    </vt:vector>
  </HeadingPairs>
  <TitlesOfParts>
    <vt:vector size="66" baseType="lpstr">
      <vt:lpstr>0KDARALIYA</vt:lpstr>
      <vt:lpstr>Algerian</vt:lpstr>
      <vt:lpstr>Arial</vt:lpstr>
      <vt:lpstr>Calibri</vt:lpstr>
      <vt:lpstr>Calibri Light</vt:lpstr>
      <vt:lpstr>Century Gothic</vt:lpstr>
      <vt:lpstr>Courier New</vt:lpstr>
      <vt:lpstr>Elephant</vt:lpstr>
      <vt:lpstr>Garamond</vt:lpstr>
      <vt:lpstr>Imprint MT Shadow</vt:lpstr>
      <vt:lpstr>Inter</vt:lpstr>
      <vt:lpstr>Iskoola Pota</vt:lpstr>
      <vt:lpstr>Trebuchet MS</vt:lpstr>
      <vt:lpstr>Viner Hand ITC</vt:lpstr>
      <vt:lpstr>Wide Latin</vt:lpstr>
      <vt:lpstr>Wingdings</vt:lpstr>
      <vt:lpstr>Wingdings 3</vt:lpstr>
      <vt:lpstr>Slice</vt:lpstr>
      <vt:lpstr>Celestial</vt:lpstr>
      <vt:lpstr>Wisp</vt:lpstr>
      <vt:lpstr>Ion</vt:lpstr>
      <vt:lpstr>Facet</vt:lpstr>
      <vt:lpstr>1_Slice</vt:lpstr>
      <vt:lpstr>2_Slice</vt:lpstr>
      <vt:lpstr>3_Slice</vt:lpstr>
      <vt:lpstr>Organic</vt:lpstr>
      <vt:lpstr>1_Facet</vt:lpstr>
      <vt:lpstr>1_Celestial</vt:lpstr>
      <vt:lpstr>2_Facet</vt:lpstr>
      <vt:lpstr>1_Organic</vt:lpstr>
      <vt:lpstr>4_Slice</vt:lpstr>
      <vt:lpstr>2_Organic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 MALL</dc:creator>
  <cp:lastModifiedBy>NESTO MALL</cp:lastModifiedBy>
  <cp:revision>98</cp:revision>
  <dcterms:created xsi:type="dcterms:W3CDTF">2026-09-19T09:37:00Z</dcterms:created>
  <dcterms:modified xsi:type="dcterms:W3CDTF">2026-09-20T14:21:07Z</dcterms:modified>
</cp:coreProperties>
</file>